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9" r:id="rId3"/>
    <p:sldId id="264" r:id="rId4"/>
    <p:sldId id="280" r:id="rId5"/>
    <p:sldId id="257" r:id="rId6"/>
    <p:sldId id="281" r:id="rId7"/>
    <p:sldId id="258" r:id="rId8"/>
    <p:sldId id="268" r:id="rId9"/>
    <p:sldId id="262" r:id="rId10"/>
    <p:sldId id="260" r:id="rId11"/>
    <p:sldId id="277" r:id="rId12"/>
    <p:sldId id="275" r:id="rId13"/>
    <p:sldId id="263" r:id="rId14"/>
    <p:sldId id="269" r:id="rId15"/>
    <p:sldId id="267" r:id="rId16"/>
    <p:sldId id="285" r:id="rId17"/>
    <p:sldId id="282" r:id="rId18"/>
    <p:sldId id="265" r:id="rId19"/>
    <p:sldId id="278" r:id="rId20"/>
    <p:sldId id="270" r:id="rId21"/>
    <p:sldId id="272" r:id="rId22"/>
    <p:sldId id="273" r:id="rId23"/>
    <p:sldId id="274" r:id="rId24"/>
    <p:sldId id="27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ALIKA P" userId="6b20de279e2cc750" providerId="LiveId" clId="{405809F0-6DDA-4F81-B0E0-BE692C22C54B}"/>
    <pc:docChg chg="modSld">
      <pc:chgData name="MAALIKA P" userId="6b20de279e2cc750" providerId="LiveId" clId="{405809F0-6DDA-4F81-B0E0-BE692C22C54B}" dt="2025-10-10T16:21:06.359" v="18" actId="20577"/>
      <pc:docMkLst>
        <pc:docMk/>
      </pc:docMkLst>
      <pc:sldChg chg="modSp mod">
        <pc:chgData name="MAALIKA P" userId="6b20de279e2cc750" providerId="LiveId" clId="{405809F0-6DDA-4F81-B0E0-BE692C22C54B}" dt="2025-10-10T16:21:06.359" v="18" actId="20577"/>
        <pc:sldMkLst>
          <pc:docMk/>
          <pc:sldMk cId="2937137526" sldId="262"/>
        </pc:sldMkLst>
        <pc:spChg chg="mod">
          <ac:chgData name="MAALIKA P" userId="6b20de279e2cc750" providerId="LiveId" clId="{405809F0-6DDA-4F81-B0E0-BE692C22C54B}" dt="2025-10-10T16:21:06.359" v="18" actId="20577"/>
          <ac:spMkLst>
            <pc:docMk/>
            <pc:sldMk cId="2937137526" sldId="262"/>
            <ac:spMk id="5" creationId="{8A54E4CB-2717-9E0C-2DB6-D886E98FD588}"/>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C5919534-0E87-4A36-9B8B-E6BC1447AB31}" type="datetimeFigureOut">
              <a:rPr lang="en-IN" smtClean="0"/>
              <a:t>10-10-2025</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B21EDDE5-887F-41A7-98E0-77E0FA474712}" type="slidenum">
              <a:rPr lang="en-IN" smtClean="0"/>
              <a:t>‹#›</a:t>
            </a:fld>
            <a:endParaRPr lang="en-IN"/>
          </a:p>
        </p:txBody>
      </p:sp>
    </p:spTree>
    <p:extLst>
      <p:ext uri="{BB962C8B-B14F-4D97-AF65-F5344CB8AC3E}">
        <p14:creationId xmlns:p14="http://schemas.microsoft.com/office/powerpoint/2010/main" val="428565252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919534-0E87-4A36-9B8B-E6BC1447AB31}" type="datetimeFigureOut">
              <a:rPr lang="en-IN" smtClean="0"/>
              <a:t>10-10-2025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1EDDE5-887F-41A7-98E0-77E0FA474712}" type="slidenum">
              <a:rPr lang="en-IN" smtClean="0"/>
              <a:t>‹#›</a:t>
            </a:fld>
            <a:endParaRPr lang="en-IN"/>
          </a:p>
        </p:txBody>
      </p:sp>
    </p:spTree>
    <p:extLst>
      <p:ext uri="{BB962C8B-B14F-4D97-AF65-F5344CB8AC3E}">
        <p14:creationId xmlns:p14="http://schemas.microsoft.com/office/powerpoint/2010/main" val="1215599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5919534-0E87-4A36-9B8B-E6BC1447AB31}" type="datetimeFigureOut">
              <a:rPr lang="en-IN" smtClean="0"/>
              <a:t>10-10-2025</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B21EDDE5-887F-41A7-98E0-77E0FA474712}" type="slidenum">
              <a:rPr lang="en-IN" smtClean="0"/>
              <a:t>‹#›</a:t>
            </a:fld>
            <a:endParaRPr lang="en-IN"/>
          </a:p>
        </p:txBody>
      </p:sp>
    </p:spTree>
    <p:extLst>
      <p:ext uri="{BB962C8B-B14F-4D97-AF65-F5344CB8AC3E}">
        <p14:creationId xmlns:p14="http://schemas.microsoft.com/office/powerpoint/2010/main" val="9570700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919534-0E87-4A36-9B8B-E6BC1447AB31}"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1EDDE5-887F-41A7-98E0-77E0FA474712}" type="slidenum">
              <a:rPr lang="en-IN" smtClean="0"/>
              <a:t>‹#›</a:t>
            </a:fld>
            <a:endParaRPr lang="en-IN"/>
          </a:p>
        </p:txBody>
      </p:sp>
    </p:spTree>
    <p:extLst>
      <p:ext uri="{BB962C8B-B14F-4D97-AF65-F5344CB8AC3E}">
        <p14:creationId xmlns:p14="http://schemas.microsoft.com/office/powerpoint/2010/main" val="3636747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919534-0E87-4A36-9B8B-E6BC1447AB31}" type="datetimeFigureOut">
              <a:rPr lang="en-IN" smtClean="0"/>
              <a:t>10-10-2025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1EDDE5-887F-41A7-98E0-77E0FA474712}" type="slidenum">
              <a:rPr lang="en-IN" smtClean="0"/>
              <a:t>‹#›</a:t>
            </a:fld>
            <a:endParaRPr lang="en-IN"/>
          </a:p>
        </p:txBody>
      </p:sp>
    </p:spTree>
    <p:extLst>
      <p:ext uri="{BB962C8B-B14F-4D97-AF65-F5344CB8AC3E}">
        <p14:creationId xmlns:p14="http://schemas.microsoft.com/office/powerpoint/2010/main" val="2991732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919534-0E87-4A36-9B8B-E6BC1447AB31}" type="datetimeFigureOut">
              <a:rPr lang="en-IN" smtClean="0"/>
              <a:t>10-10-2025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21EDDE5-887F-41A7-98E0-77E0FA474712}" type="slidenum">
              <a:rPr lang="en-IN" smtClean="0"/>
              <a:t>‹#›</a:t>
            </a:fld>
            <a:endParaRPr lang="en-IN"/>
          </a:p>
        </p:txBody>
      </p:sp>
    </p:spTree>
    <p:extLst>
      <p:ext uri="{BB962C8B-B14F-4D97-AF65-F5344CB8AC3E}">
        <p14:creationId xmlns:p14="http://schemas.microsoft.com/office/powerpoint/2010/main" val="2379287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919534-0E87-4A36-9B8B-E6BC1447AB31}" type="datetimeFigureOut">
              <a:rPr lang="en-IN" smtClean="0"/>
              <a:t>10-10-2025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21EDDE5-887F-41A7-98E0-77E0FA474712}" type="slidenum">
              <a:rPr lang="en-IN" smtClean="0"/>
              <a:t>‹#›</a:t>
            </a:fld>
            <a:endParaRPr lang="en-IN"/>
          </a:p>
        </p:txBody>
      </p:sp>
    </p:spTree>
    <p:extLst>
      <p:ext uri="{BB962C8B-B14F-4D97-AF65-F5344CB8AC3E}">
        <p14:creationId xmlns:p14="http://schemas.microsoft.com/office/powerpoint/2010/main" val="1854085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C5919534-0E87-4A36-9B8B-E6BC1447AB31}" type="datetimeFigureOut">
              <a:rPr lang="en-IN" smtClean="0"/>
              <a:t>10-10-2025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B21EDDE5-887F-41A7-98E0-77E0FA474712}"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3771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C5919534-0E87-4A36-9B8B-E6BC1447AB31}" type="datetimeFigureOut">
              <a:rPr lang="en-IN" smtClean="0"/>
              <a:t>10-10-2025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B21EDDE5-887F-41A7-98E0-77E0FA474712}"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97576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919534-0E87-4A36-9B8B-E6BC1447AB31}"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DDE5-887F-41A7-98E0-77E0FA474712}" type="slidenum">
              <a:rPr lang="en-IN" smtClean="0"/>
              <a:t>‹#›</a:t>
            </a:fld>
            <a:endParaRPr lang="en-IN"/>
          </a:p>
        </p:txBody>
      </p:sp>
    </p:spTree>
    <p:extLst>
      <p:ext uri="{BB962C8B-B14F-4D97-AF65-F5344CB8AC3E}">
        <p14:creationId xmlns:p14="http://schemas.microsoft.com/office/powerpoint/2010/main" val="2993144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919534-0E87-4A36-9B8B-E6BC1447AB31}"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1EDDE5-887F-41A7-98E0-77E0FA474712}" type="slidenum">
              <a:rPr lang="en-IN" smtClean="0"/>
              <a:t>‹#›</a:t>
            </a:fld>
            <a:endParaRPr lang="en-IN"/>
          </a:p>
        </p:txBody>
      </p:sp>
    </p:spTree>
    <p:extLst>
      <p:ext uri="{BB962C8B-B14F-4D97-AF65-F5344CB8AC3E}">
        <p14:creationId xmlns:p14="http://schemas.microsoft.com/office/powerpoint/2010/main" val="23405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5919534-0E87-4A36-9B8B-E6BC1447AB31}" type="datetimeFigureOut">
              <a:rPr lang="en-IN" smtClean="0"/>
              <a:t>10-10-2025</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B21EDDE5-887F-41A7-98E0-77E0FA474712}" type="slidenum">
              <a:rPr lang="en-IN" smtClean="0"/>
              <a:t>‹#›</a:t>
            </a:fld>
            <a:endParaRPr lang="en-IN"/>
          </a:p>
        </p:txBody>
      </p:sp>
    </p:spTree>
    <p:extLst>
      <p:ext uri="{BB962C8B-B14F-4D97-AF65-F5344CB8AC3E}">
        <p14:creationId xmlns:p14="http://schemas.microsoft.com/office/powerpoint/2010/main" val="9599121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EBDE1-FAB6-613C-9CB5-2D70CC88A4C2}"/>
              </a:ext>
            </a:extLst>
          </p:cNvPr>
          <p:cNvSpPr>
            <a:spLocks noGrp="1"/>
          </p:cNvSpPr>
          <p:nvPr>
            <p:ph type="ctrTitle"/>
          </p:nvPr>
        </p:nvSpPr>
        <p:spPr>
          <a:xfrm>
            <a:off x="1559446" y="1826087"/>
            <a:ext cx="9068586" cy="2590800"/>
          </a:xfrm>
        </p:spPr>
        <p:txBody>
          <a:bodyPr/>
          <a:lstStyle/>
          <a:p>
            <a:r>
              <a:rPr lang="en-US" sz="3200" b="1" dirty="0">
                <a:latin typeface="Bahnschrift Light SemiCondensed" panose="020B0502040204020203" pitchFamily="34" charset="0"/>
              </a:rPr>
              <a:t>Application of the ADMM Algorithm for a High-Dimensional  Partially Linear Model</a:t>
            </a:r>
            <a:endParaRPr lang="en-IN" sz="3200" b="1" dirty="0">
              <a:latin typeface="Bahnschrift Light SemiCondensed" panose="020B0502040204020203" pitchFamily="34" charset="0"/>
            </a:endParaRPr>
          </a:p>
        </p:txBody>
      </p:sp>
      <p:sp>
        <p:nvSpPr>
          <p:cNvPr id="3" name="Subtitle 2">
            <a:extLst>
              <a:ext uri="{FF2B5EF4-FFF2-40B4-BE49-F238E27FC236}">
                <a16:creationId xmlns:a16="http://schemas.microsoft.com/office/drawing/2014/main" id="{556DAE71-7EF7-67EC-159C-CD33969545BA}"/>
              </a:ext>
            </a:extLst>
          </p:cNvPr>
          <p:cNvSpPr>
            <a:spLocks noGrp="1"/>
          </p:cNvSpPr>
          <p:nvPr>
            <p:ph type="subTitle" idx="1"/>
          </p:nvPr>
        </p:nvSpPr>
        <p:spPr>
          <a:xfrm>
            <a:off x="1561706" y="3529918"/>
            <a:ext cx="9070848" cy="457201"/>
          </a:xfrm>
        </p:spPr>
        <p:txBody>
          <a:bodyPr>
            <a:noAutofit/>
          </a:bodyPr>
          <a:lstStyle/>
          <a:p>
            <a:endParaRPr lang="en-IN" sz="2000" dirty="0"/>
          </a:p>
          <a:p>
            <a:r>
              <a:rPr lang="en-IN" sz="2000" dirty="0">
                <a:latin typeface="Bahnschrift Light SemiCondensed" panose="020B0502040204020203" pitchFamily="34" charset="0"/>
              </a:rPr>
              <a:t>BY:</a:t>
            </a:r>
          </a:p>
          <a:p>
            <a:r>
              <a:rPr lang="en-IN" sz="2000" dirty="0">
                <a:latin typeface="Bahnschrift Light SemiCondensed" panose="020B0502040204020203" pitchFamily="34" charset="0"/>
              </a:rPr>
              <a:t>KIRUTHIKA K - CB.SC.U4AIE24329</a:t>
            </a:r>
          </a:p>
          <a:p>
            <a:r>
              <a:rPr lang="en-IN" sz="2000" dirty="0">
                <a:latin typeface="Bahnschrift Light SemiCondensed" panose="020B0502040204020203" pitchFamily="34" charset="0"/>
              </a:rPr>
              <a:t>M MITHUL PRANAV - CB.SC.U4AIE24331</a:t>
            </a:r>
          </a:p>
          <a:p>
            <a:r>
              <a:rPr lang="en-IN" sz="2000" dirty="0">
                <a:latin typeface="Bahnschrift Light SemiCondensed" panose="020B0502040204020203" pitchFamily="34" charset="0"/>
              </a:rPr>
              <a:t>MAALIKA P - CB.SC.U4AIE24332</a:t>
            </a:r>
          </a:p>
          <a:p>
            <a:r>
              <a:rPr lang="en-IN" sz="2000" dirty="0">
                <a:latin typeface="Bahnschrift Light SemiCondensed" panose="020B0502040204020203" pitchFamily="34" charset="0"/>
              </a:rPr>
              <a:t>RITHAN S - CB.SC.U4AIE24348</a:t>
            </a:r>
          </a:p>
          <a:p>
            <a:endParaRPr lang="en-IN" sz="2000" dirty="0"/>
          </a:p>
        </p:txBody>
      </p:sp>
    </p:spTree>
    <p:extLst>
      <p:ext uri="{BB962C8B-B14F-4D97-AF65-F5344CB8AC3E}">
        <p14:creationId xmlns:p14="http://schemas.microsoft.com/office/powerpoint/2010/main" val="1831973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23084-75E2-9E12-DB68-AC72D4222462}"/>
              </a:ext>
            </a:extLst>
          </p:cNvPr>
          <p:cNvSpPr>
            <a:spLocks noGrp="1"/>
          </p:cNvSpPr>
          <p:nvPr>
            <p:ph type="title"/>
          </p:nvPr>
        </p:nvSpPr>
        <p:spPr>
          <a:xfrm>
            <a:off x="1066800" y="2149660"/>
            <a:ext cx="10058400" cy="1371600"/>
          </a:xfrm>
        </p:spPr>
        <p:txBody>
          <a:bodyPr/>
          <a:lstStyle/>
          <a:p>
            <a:pPr algn="ctr"/>
            <a:r>
              <a:rPr lang="en-IN" dirty="0"/>
              <a:t>Introduction</a:t>
            </a:r>
          </a:p>
        </p:txBody>
      </p:sp>
    </p:spTree>
    <p:extLst>
      <p:ext uri="{BB962C8B-B14F-4D97-AF65-F5344CB8AC3E}">
        <p14:creationId xmlns:p14="http://schemas.microsoft.com/office/powerpoint/2010/main" val="2440649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9BE3E-A069-9481-D692-93A189AF02A0}"/>
              </a:ext>
            </a:extLst>
          </p:cNvPr>
          <p:cNvSpPr>
            <a:spLocks noGrp="1"/>
          </p:cNvSpPr>
          <p:nvPr>
            <p:ph type="title"/>
          </p:nvPr>
        </p:nvSpPr>
        <p:spPr/>
        <p:txBody>
          <a:bodyPr>
            <a:normAutofit/>
          </a:bodyPr>
          <a:lstStyle/>
          <a:p>
            <a:r>
              <a:rPr lang="en-IN" sz="3200" dirty="0"/>
              <a:t>Partially linear models</a:t>
            </a:r>
          </a:p>
        </p:txBody>
      </p:sp>
      <p:sp>
        <p:nvSpPr>
          <p:cNvPr id="3" name="Content Placeholder 2">
            <a:extLst>
              <a:ext uri="{FF2B5EF4-FFF2-40B4-BE49-F238E27FC236}">
                <a16:creationId xmlns:a16="http://schemas.microsoft.com/office/drawing/2014/main" id="{5D3E0D76-1AE2-8F18-477E-3481BD72FF60}"/>
              </a:ext>
            </a:extLst>
          </p:cNvPr>
          <p:cNvSpPr>
            <a:spLocks noGrp="1"/>
          </p:cNvSpPr>
          <p:nvPr>
            <p:ph idx="1"/>
          </p:nvPr>
        </p:nvSpPr>
        <p:spPr/>
        <p:txBody>
          <a:bodyPr>
            <a:normAutofit lnSpcReduction="10000"/>
          </a:bodyPr>
          <a:lstStyle/>
          <a:p>
            <a:r>
              <a:rPr lang="en-US" b="1" dirty="0"/>
              <a:t>Parametric (Linear) Part: </a:t>
            </a:r>
            <a:r>
              <a:rPr lang="en-US" dirty="0"/>
              <a:t>The term X T β is a standard linear regression component. X represents the variables that are assumed to have a straightforward linear relationship with the response variable Y, and β is the vector of coefficients for those variables. This part of the model is easy to interpret; each coefficient in β represents the change in Y for a one-unit change in the corresponding variable in X.</a:t>
            </a:r>
          </a:p>
          <a:p>
            <a:r>
              <a:rPr lang="en-US" b="1" dirty="0"/>
              <a:t>Non-Parametric (Non-Linear) Part: </a:t>
            </a:r>
            <a:r>
              <a:rPr lang="en-US" dirty="0"/>
              <a:t>The term B T γ models the variables that have a more complex, non-linear relationship with the response Y. Instead of assuming a straight-line effect, this part allows the model to learn an arbitrary smooth function from the data. To do this, the paper uses a </a:t>
            </a:r>
          </a:p>
          <a:p>
            <a:pPr>
              <a:buFont typeface="Wingdings" panose="05000000000000000000" pitchFamily="2" charset="2"/>
              <a:buChar char="Ø"/>
            </a:pPr>
            <a:r>
              <a:rPr lang="en-US" b="1" dirty="0"/>
              <a:t>B-spline basis function </a:t>
            </a:r>
            <a:r>
              <a:rPr lang="en-US" dirty="0"/>
              <a:t>approach, where the unknown function is approximated by a weighted sum of B-spline basis functions, represented by the matrix B.  The vector γ contains the spline coefficients that are estimated from the data.</a:t>
            </a:r>
          </a:p>
          <a:p>
            <a:r>
              <a:rPr lang="en-US" b="1" dirty="0"/>
              <a:t>Error Term (ϵ): </a:t>
            </a:r>
            <a:r>
              <a:rPr lang="en-US" dirty="0"/>
              <a:t>This represents the random, unexplained variation in the data. </a:t>
            </a:r>
            <a:endParaRPr lang="en-IN" dirty="0"/>
          </a:p>
        </p:txBody>
      </p:sp>
    </p:spTree>
    <p:extLst>
      <p:ext uri="{BB962C8B-B14F-4D97-AF65-F5344CB8AC3E}">
        <p14:creationId xmlns:p14="http://schemas.microsoft.com/office/powerpoint/2010/main" val="404084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2F585-3312-4F24-93C5-FAF0158AC4AA}"/>
              </a:ext>
            </a:extLst>
          </p:cNvPr>
          <p:cNvSpPr>
            <a:spLocks noGrp="1"/>
          </p:cNvSpPr>
          <p:nvPr>
            <p:ph type="title"/>
          </p:nvPr>
        </p:nvSpPr>
        <p:spPr>
          <a:xfrm>
            <a:off x="973667" y="2268194"/>
            <a:ext cx="10058400" cy="1371600"/>
          </a:xfrm>
        </p:spPr>
        <p:txBody>
          <a:bodyPr/>
          <a:lstStyle/>
          <a:p>
            <a:pPr algn="ctr"/>
            <a:r>
              <a:rPr lang="en-IN" dirty="0"/>
              <a:t>Problem Statement</a:t>
            </a:r>
          </a:p>
        </p:txBody>
      </p:sp>
    </p:spTree>
    <p:extLst>
      <p:ext uri="{BB962C8B-B14F-4D97-AF65-F5344CB8AC3E}">
        <p14:creationId xmlns:p14="http://schemas.microsoft.com/office/powerpoint/2010/main" val="4263999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B8F3-2E06-5204-B5DE-893267EEF6B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0B43B99-72D6-08E2-CAD3-FC0C1DF56D13}"/>
              </a:ext>
            </a:extLst>
          </p:cNvPr>
          <p:cNvSpPr>
            <a:spLocks noGrp="1"/>
          </p:cNvSpPr>
          <p:nvPr>
            <p:ph idx="1"/>
          </p:nvPr>
        </p:nvSpPr>
        <p:spPr/>
        <p:txBody>
          <a:bodyPr/>
          <a:lstStyle/>
          <a:p>
            <a:r>
              <a:rPr lang="en-US" dirty="0"/>
              <a:t>The primary challenge is to effectively estimate a model in a high-dimensional setting, where the number of variables (p) is much larger than the number of data samples (n).</a:t>
            </a:r>
          </a:p>
          <a:p>
            <a:r>
              <a:rPr lang="en-US" dirty="0"/>
              <a:t>The problem requires a method that can simultaneously estimate both the parametric (linear) coefficients and the non-parametric (non-linear) function within a partially linear model.</a:t>
            </a:r>
          </a:p>
          <a:p>
            <a:r>
              <a:rPr lang="en-US" dirty="0"/>
              <a:t>The estimation must also incorporate linear constraints on the model's parameters to improve accuracy and reflect prior knowledge of the system.</a:t>
            </a:r>
            <a:endParaRPr lang="en-IN" dirty="0"/>
          </a:p>
        </p:txBody>
      </p:sp>
    </p:spTree>
    <p:extLst>
      <p:ext uri="{BB962C8B-B14F-4D97-AF65-F5344CB8AC3E}">
        <p14:creationId xmlns:p14="http://schemas.microsoft.com/office/powerpoint/2010/main" val="2855603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13BC3-C0DA-AAAA-C753-5467F9BB6D1B}"/>
              </a:ext>
            </a:extLst>
          </p:cNvPr>
          <p:cNvSpPr>
            <a:spLocks noGrp="1"/>
          </p:cNvSpPr>
          <p:nvPr>
            <p:ph type="title"/>
          </p:nvPr>
        </p:nvSpPr>
        <p:spPr>
          <a:xfrm>
            <a:off x="922867" y="2276661"/>
            <a:ext cx="10058400" cy="1371600"/>
          </a:xfrm>
        </p:spPr>
        <p:txBody>
          <a:bodyPr/>
          <a:lstStyle/>
          <a:p>
            <a:pPr algn="ctr"/>
            <a:r>
              <a:rPr lang="en-IN" dirty="0"/>
              <a:t>Objectives</a:t>
            </a:r>
          </a:p>
        </p:txBody>
      </p:sp>
    </p:spTree>
    <p:extLst>
      <p:ext uri="{BB962C8B-B14F-4D97-AF65-F5344CB8AC3E}">
        <p14:creationId xmlns:p14="http://schemas.microsoft.com/office/powerpoint/2010/main" val="602053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7CDB0-65A2-D215-2988-910CC63811B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942B175-04BA-436F-1821-22B340C6BF86}"/>
              </a:ext>
            </a:extLst>
          </p:cNvPr>
          <p:cNvSpPr>
            <a:spLocks noGrp="1"/>
          </p:cNvSpPr>
          <p:nvPr>
            <p:ph idx="1"/>
          </p:nvPr>
        </p:nvSpPr>
        <p:spPr/>
        <p:txBody>
          <a:bodyPr/>
          <a:lstStyle/>
          <a:p>
            <a:r>
              <a:rPr lang="en-US" dirty="0"/>
              <a:t>To develop an efficient and accurate method for estimating both the parametric (linear) coefficients and the non-parametric (non-linear) function in a high-dimensional partially linear model. </a:t>
            </a:r>
          </a:p>
          <a:p>
            <a:r>
              <a:rPr lang="en-US" dirty="0"/>
              <a:t>To achieve this by applying the ADMM algorithm to solve the model's constrained optimization problem, which is transformed into an unconstrained problem using an augmented </a:t>
            </a:r>
            <a:r>
              <a:rPr lang="en-US" dirty="0" err="1"/>
              <a:t>Lagrangian</a:t>
            </a:r>
            <a:r>
              <a:rPr lang="en-US" dirty="0"/>
              <a:t> function. </a:t>
            </a:r>
          </a:p>
          <a:p>
            <a:r>
              <a:rPr lang="en-US" dirty="0"/>
              <a:t>To provide a theoretical guarantee for the method by proving the convergence of the algorithm to the optimal solution using a variational inequality framework. </a:t>
            </a:r>
            <a:endParaRPr lang="en-IN" dirty="0"/>
          </a:p>
        </p:txBody>
      </p:sp>
    </p:spTree>
    <p:extLst>
      <p:ext uri="{BB962C8B-B14F-4D97-AF65-F5344CB8AC3E}">
        <p14:creationId xmlns:p14="http://schemas.microsoft.com/office/powerpoint/2010/main" val="3472072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4AF55-C425-F6D8-26C5-331015796B01}"/>
              </a:ext>
            </a:extLst>
          </p:cNvPr>
          <p:cNvSpPr>
            <a:spLocks noGrp="1"/>
          </p:cNvSpPr>
          <p:nvPr>
            <p:ph type="title"/>
          </p:nvPr>
        </p:nvSpPr>
        <p:spPr>
          <a:xfrm>
            <a:off x="1066800" y="2276661"/>
            <a:ext cx="10058400" cy="1371600"/>
          </a:xfrm>
        </p:spPr>
        <p:txBody>
          <a:bodyPr/>
          <a:lstStyle/>
          <a:p>
            <a:pPr algn="ctr"/>
            <a:r>
              <a:rPr lang="en-IN" dirty="0"/>
              <a:t>Dataset Description</a:t>
            </a:r>
          </a:p>
        </p:txBody>
      </p:sp>
    </p:spTree>
    <p:extLst>
      <p:ext uri="{BB962C8B-B14F-4D97-AF65-F5344CB8AC3E}">
        <p14:creationId xmlns:p14="http://schemas.microsoft.com/office/powerpoint/2010/main" val="2918846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54E4CB-2717-9E0C-2DB6-D886E98FD588}"/>
              </a:ext>
            </a:extLst>
          </p:cNvPr>
          <p:cNvSpPr txBox="1"/>
          <p:nvPr/>
        </p:nvSpPr>
        <p:spPr>
          <a:xfrm>
            <a:off x="258318" y="268052"/>
            <a:ext cx="9836658" cy="6186309"/>
          </a:xfrm>
          <a:prstGeom prst="rect">
            <a:avLst/>
          </a:prstGeom>
          <a:noFill/>
        </p:spPr>
        <p:txBody>
          <a:bodyPr wrap="square">
            <a:spAutoFit/>
          </a:bodyPr>
          <a:lstStyle/>
          <a:p>
            <a:r>
              <a:rPr lang="en-US" b="1" dirty="0"/>
              <a:t>CPS 1985 Dataset (for the Partially Linear Model)</a:t>
            </a:r>
          </a:p>
          <a:p>
            <a:endParaRPr lang="en-US" dirty="0"/>
          </a:p>
          <a:p>
            <a:r>
              <a:rPr lang="en-US" dirty="0"/>
              <a:t>This dataset is from the 1985 Current Population Survey (CPS85) and is used in the provided research paper to </a:t>
            </a:r>
            <a:r>
              <a:rPr lang="en-US" dirty="0" err="1"/>
              <a:t>analyse</a:t>
            </a:r>
            <a:r>
              <a:rPr lang="en-US" dirty="0"/>
              <a:t> the factors that determine workers' wages. It contains 534 samples with 11 variables related to workers' characteristics. </a:t>
            </a:r>
          </a:p>
          <a:p>
            <a:endParaRPr lang="en-US" dirty="0"/>
          </a:p>
          <a:p>
            <a:r>
              <a:rPr lang="en-US" dirty="0"/>
              <a:t>The dataset is structured for a partially linear model as follows:</a:t>
            </a:r>
          </a:p>
          <a:p>
            <a:endParaRPr lang="en-US" dirty="0"/>
          </a:p>
          <a:p>
            <a:r>
              <a:rPr lang="en-US" b="1" dirty="0"/>
              <a:t>Response Variable (Y): </a:t>
            </a:r>
            <a:r>
              <a:rPr lang="en-US" dirty="0"/>
              <a:t>The natural logarithm of the worker's wage, used to </a:t>
            </a:r>
            <a:r>
              <a:rPr lang="en-US" dirty="0" err="1"/>
              <a:t>stabilise</a:t>
            </a:r>
            <a:r>
              <a:rPr lang="en-US" dirty="0"/>
              <a:t> variance and reduce the effect of outliers.</a:t>
            </a:r>
          </a:p>
          <a:p>
            <a:r>
              <a:rPr lang="en-US" b="1" dirty="0"/>
              <a:t>Non-Parametric Variable (U): </a:t>
            </a:r>
            <a:r>
              <a:rPr lang="en-US" dirty="0"/>
              <a:t>The worker's years of experience, as its effect on wages is not assumed to be strictly linear.</a:t>
            </a:r>
          </a:p>
          <a:p>
            <a:r>
              <a:rPr lang="en-US" b="1" dirty="0"/>
              <a:t>Parametric Variables (X): </a:t>
            </a:r>
            <a:r>
              <a:rPr lang="en-US" dirty="0"/>
              <a:t>A set of other characteristics assumed to have a linear relationship with log-wages, including:</a:t>
            </a:r>
          </a:p>
          <a:p>
            <a:pPr marL="285750" indent="-285750">
              <a:buFont typeface="Arial" panose="020B0604020202020204" pitchFamily="34" charset="0"/>
              <a:buChar char="•"/>
            </a:pPr>
            <a:r>
              <a:rPr lang="en-US" dirty="0"/>
              <a:t>Years of education</a:t>
            </a:r>
          </a:p>
          <a:p>
            <a:pPr marL="285750" indent="-285750">
              <a:buFont typeface="Arial" panose="020B0604020202020204" pitchFamily="34" charset="0"/>
              <a:buChar char="•"/>
            </a:pPr>
            <a:r>
              <a:rPr lang="en-US" dirty="0"/>
              <a:t>Age,</a:t>
            </a:r>
          </a:p>
          <a:p>
            <a:pPr marL="285750" indent="-285750">
              <a:buFont typeface="Arial" panose="020B0604020202020204" pitchFamily="34" charset="0"/>
              <a:buChar char="•"/>
            </a:pPr>
            <a:r>
              <a:rPr lang="en-US" dirty="0"/>
              <a:t>Gender,</a:t>
            </a:r>
          </a:p>
          <a:p>
            <a:pPr marL="285750" indent="-285750">
              <a:buFont typeface="Arial" panose="020B0604020202020204" pitchFamily="34" charset="0"/>
              <a:buChar char="•"/>
            </a:pPr>
            <a:r>
              <a:rPr lang="en-US" dirty="0"/>
              <a:t>Race,</a:t>
            </a:r>
          </a:p>
          <a:p>
            <a:pPr marL="285750" indent="-285750">
              <a:buFont typeface="Arial" panose="020B0604020202020204" pitchFamily="34" charset="0"/>
              <a:buChar char="•"/>
            </a:pPr>
            <a:r>
              <a:rPr lang="en-US" dirty="0"/>
              <a:t>Union membership,</a:t>
            </a:r>
          </a:p>
          <a:p>
            <a:pPr marL="285750" indent="-285750">
              <a:buFont typeface="Arial" panose="020B0604020202020204" pitchFamily="34" charset="0"/>
              <a:buChar char="•"/>
            </a:pPr>
            <a:r>
              <a:rPr lang="en-US" dirty="0"/>
              <a:t>Marital status</a:t>
            </a:r>
          </a:p>
          <a:p>
            <a:pPr marL="285750" indent="-285750">
              <a:buFont typeface="Arial" panose="020B0604020202020204" pitchFamily="34" charset="0"/>
              <a:buChar char="•"/>
            </a:pPr>
            <a:r>
              <a:rPr lang="en-US" dirty="0"/>
              <a:t>Occupation</a:t>
            </a:r>
          </a:p>
          <a:p>
            <a:pPr marL="285750" indent="-285750">
              <a:buFont typeface="Arial" panose="020B0604020202020204" pitchFamily="34" charset="0"/>
              <a:buChar char="•"/>
            </a:pPr>
            <a:r>
              <a:rPr lang="en-US" dirty="0"/>
              <a:t>Sector</a:t>
            </a:r>
          </a:p>
        </p:txBody>
      </p:sp>
    </p:spTree>
    <p:extLst>
      <p:ext uri="{BB962C8B-B14F-4D97-AF65-F5344CB8AC3E}">
        <p14:creationId xmlns:p14="http://schemas.microsoft.com/office/powerpoint/2010/main" val="2937137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451CFD9-EDA9-176C-B3B7-2A899700273E}"/>
              </a:ext>
            </a:extLst>
          </p:cNvPr>
          <p:cNvSpPr txBox="1"/>
          <p:nvPr/>
        </p:nvSpPr>
        <p:spPr>
          <a:xfrm>
            <a:off x="292608" y="974122"/>
            <a:ext cx="11804904" cy="5078313"/>
          </a:xfrm>
          <a:prstGeom prst="rect">
            <a:avLst/>
          </a:prstGeom>
          <a:noFill/>
        </p:spPr>
        <p:txBody>
          <a:bodyPr wrap="square">
            <a:spAutoFit/>
          </a:bodyPr>
          <a:lstStyle/>
          <a:p>
            <a:r>
              <a:rPr lang="en-US" b="1" dirty="0"/>
              <a:t>Wine Quality Datasets (Red and White)</a:t>
            </a:r>
          </a:p>
          <a:p>
            <a:endParaRPr lang="en-US" dirty="0"/>
          </a:p>
          <a:p>
            <a:r>
              <a:rPr lang="en-US" dirty="0"/>
              <a:t>These two datasets, one for red wine and one for white wine, are used for predicting wine quality based on physicochemical tests. The data comes from Portuguese "Vinho Verde" wines. The quality is rated on a scale from 0 (very bad) to 10 (excellent) by wine experts.</a:t>
            </a:r>
          </a:p>
          <a:p>
            <a:endParaRPr lang="en-US" dirty="0"/>
          </a:p>
          <a:p>
            <a:r>
              <a:rPr lang="en-US" dirty="0"/>
              <a:t>Both datasets share the same set of 11 input variables:</a:t>
            </a:r>
          </a:p>
          <a:p>
            <a:endParaRPr lang="en-US" dirty="0"/>
          </a:p>
          <a:p>
            <a:r>
              <a:rPr lang="en-US" b="1" dirty="0"/>
              <a:t>Fixed Acidity: </a:t>
            </a:r>
            <a:r>
              <a:rPr lang="en-US" dirty="0"/>
              <a:t>Non-volatile acids that don't evaporate easily.</a:t>
            </a:r>
          </a:p>
          <a:p>
            <a:r>
              <a:rPr lang="en-US" b="1" dirty="0"/>
              <a:t>Volatile Acidity: </a:t>
            </a:r>
            <a:r>
              <a:rPr lang="en-US" dirty="0"/>
              <a:t>High levels can lead to an unpleasant, vinegar-like taste.</a:t>
            </a:r>
          </a:p>
          <a:p>
            <a:r>
              <a:rPr lang="en-US" b="1" dirty="0"/>
              <a:t>Citric Acid: </a:t>
            </a:r>
            <a:r>
              <a:rPr lang="en-US" dirty="0"/>
              <a:t>Can add freshness and flavor.</a:t>
            </a:r>
          </a:p>
          <a:p>
            <a:r>
              <a:rPr lang="en-US" b="1" dirty="0"/>
              <a:t>Residual Sugar: </a:t>
            </a:r>
            <a:r>
              <a:rPr lang="en-US" dirty="0"/>
              <a:t>The amount of sugar left after fermentation stops.</a:t>
            </a:r>
          </a:p>
          <a:p>
            <a:r>
              <a:rPr lang="en-US" b="1" dirty="0"/>
              <a:t>Chlorides: </a:t>
            </a:r>
            <a:r>
              <a:rPr lang="en-US" dirty="0"/>
              <a:t>The amount of salt in the wine.</a:t>
            </a:r>
          </a:p>
          <a:p>
            <a:r>
              <a:rPr lang="en-US" b="1" dirty="0"/>
              <a:t>Free Sulfur Dioxide and Total Sulfur Dioxide: </a:t>
            </a:r>
            <a:r>
              <a:rPr lang="en-US" dirty="0"/>
              <a:t>Prevent microbial growth and oxidation.</a:t>
            </a:r>
          </a:p>
          <a:p>
            <a:r>
              <a:rPr lang="en-US" b="1" dirty="0"/>
              <a:t>Density: </a:t>
            </a:r>
            <a:r>
              <a:rPr lang="en-US" dirty="0"/>
              <a:t>An indicator of the wine's alcohol and sugar content.</a:t>
            </a:r>
          </a:p>
          <a:p>
            <a:r>
              <a:rPr lang="en-US" b="1" dirty="0"/>
              <a:t>pH: </a:t>
            </a:r>
            <a:r>
              <a:rPr lang="en-US" dirty="0"/>
              <a:t>Describes the acidity or basicity of the wine.</a:t>
            </a:r>
          </a:p>
          <a:p>
            <a:r>
              <a:rPr lang="en-US" b="1" dirty="0"/>
              <a:t>Sulphates: </a:t>
            </a:r>
            <a:r>
              <a:rPr lang="en-US" dirty="0"/>
              <a:t>A wine additive that can contribute to sulfur dioxide levels.</a:t>
            </a:r>
          </a:p>
          <a:p>
            <a:r>
              <a:rPr lang="en-US" b="1" dirty="0"/>
              <a:t>Alcohol: </a:t>
            </a:r>
            <a:r>
              <a:rPr lang="en-US" dirty="0"/>
              <a:t>The percentage of alcohol content.</a:t>
            </a:r>
            <a:endParaRPr lang="en-IN" dirty="0"/>
          </a:p>
        </p:txBody>
      </p:sp>
    </p:spTree>
    <p:extLst>
      <p:ext uri="{BB962C8B-B14F-4D97-AF65-F5344CB8AC3E}">
        <p14:creationId xmlns:p14="http://schemas.microsoft.com/office/powerpoint/2010/main" val="3080250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1772-CF73-4BF6-027C-CC207A064AA1}"/>
              </a:ext>
            </a:extLst>
          </p:cNvPr>
          <p:cNvSpPr>
            <a:spLocks noGrp="1"/>
          </p:cNvSpPr>
          <p:nvPr>
            <p:ph type="title"/>
          </p:nvPr>
        </p:nvSpPr>
        <p:spPr>
          <a:xfrm>
            <a:off x="1066800" y="2057400"/>
            <a:ext cx="10058400" cy="1371600"/>
          </a:xfrm>
        </p:spPr>
        <p:txBody>
          <a:bodyPr/>
          <a:lstStyle/>
          <a:p>
            <a:pPr algn="ctr"/>
            <a:r>
              <a:rPr lang="en-IN" dirty="0"/>
              <a:t>Methodology</a:t>
            </a:r>
          </a:p>
        </p:txBody>
      </p:sp>
    </p:spTree>
    <p:extLst>
      <p:ext uri="{BB962C8B-B14F-4D97-AF65-F5344CB8AC3E}">
        <p14:creationId xmlns:p14="http://schemas.microsoft.com/office/powerpoint/2010/main" val="1174787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2EE43-EB83-CB16-8F82-0CF056DA0752}"/>
              </a:ext>
            </a:extLst>
          </p:cNvPr>
          <p:cNvSpPr>
            <a:spLocks noGrp="1"/>
          </p:cNvSpPr>
          <p:nvPr>
            <p:ph type="title"/>
          </p:nvPr>
        </p:nvSpPr>
        <p:spPr/>
        <p:txBody>
          <a:bodyPr/>
          <a:lstStyle/>
          <a:p>
            <a:r>
              <a:rPr lang="en-IN" dirty="0"/>
              <a:t>B-Spline Function</a:t>
            </a:r>
          </a:p>
        </p:txBody>
      </p:sp>
      <p:sp>
        <p:nvSpPr>
          <p:cNvPr id="3" name="Content Placeholder 2">
            <a:extLst>
              <a:ext uri="{FF2B5EF4-FFF2-40B4-BE49-F238E27FC236}">
                <a16:creationId xmlns:a16="http://schemas.microsoft.com/office/drawing/2014/main" id="{E50B9BC4-9195-7DE1-3137-82407FE7EE0D}"/>
              </a:ext>
            </a:extLst>
          </p:cNvPr>
          <p:cNvSpPr>
            <a:spLocks noGrp="1"/>
          </p:cNvSpPr>
          <p:nvPr>
            <p:ph idx="1"/>
          </p:nvPr>
        </p:nvSpPr>
        <p:spPr/>
        <p:txBody>
          <a:bodyPr>
            <a:normAutofit/>
          </a:bodyPr>
          <a:lstStyle/>
          <a:p>
            <a:r>
              <a:rPr lang="en-US" dirty="0"/>
              <a:t>A B-spline is a piecewise polynomial function defined by a set of basis functions that are combined to approximate a smooth curve through a dataset.</a:t>
            </a:r>
          </a:p>
          <a:p>
            <a:r>
              <a:rPr lang="en-US" dirty="0"/>
              <a:t>Key components of a B-spline:</a:t>
            </a:r>
          </a:p>
          <a:p>
            <a:pPr lvl="1"/>
            <a:r>
              <a:rPr lang="en-US" b="1" dirty="0"/>
              <a:t>Degree</a:t>
            </a:r>
            <a:r>
              <a:rPr lang="en-US" dirty="0"/>
              <a:t>: The degree of the polynomial segments (e.g., degree 2 for quadratic, degree 3 for cubic).</a:t>
            </a:r>
          </a:p>
          <a:p>
            <a:pPr lvl="1"/>
            <a:r>
              <a:rPr lang="en-US" b="1" dirty="0"/>
              <a:t>Knots</a:t>
            </a:r>
            <a:r>
              <a:rPr lang="en-US" dirty="0"/>
              <a:t>: Points that divide the domain into intervals where polynomial segments are defined. Knots can be uniformly or non-uniformly spaced.</a:t>
            </a:r>
          </a:p>
          <a:p>
            <a:pPr lvl="1"/>
            <a:r>
              <a:rPr lang="en-US" b="1" dirty="0"/>
              <a:t>Basis Functions</a:t>
            </a:r>
            <a:r>
              <a:rPr lang="en-US" dirty="0"/>
              <a:t>: Localized functions that are non-zero only over a small range of the domain, defined by the knots and degree. The B-spline curve is a weighted sum of these basis functions.</a:t>
            </a:r>
          </a:p>
          <a:p>
            <a:pPr lvl="1"/>
            <a:r>
              <a:rPr lang="en-US" b="1" dirty="0"/>
              <a:t>Control Points or Coefficients</a:t>
            </a:r>
            <a:r>
              <a:rPr lang="en-US" dirty="0"/>
              <a:t>: Weights (gamma in the code) that determine the contribution of each basis function to the final curve.</a:t>
            </a:r>
          </a:p>
          <a:p>
            <a:endParaRPr lang="en-IN" dirty="0"/>
          </a:p>
        </p:txBody>
      </p:sp>
    </p:spTree>
    <p:extLst>
      <p:ext uri="{BB962C8B-B14F-4D97-AF65-F5344CB8AC3E}">
        <p14:creationId xmlns:p14="http://schemas.microsoft.com/office/powerpoint/2010/main" val="2676853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4E3E7-BAD6-19B9-2CF0-2A49A6610D06}"/>
              </a:ext>
            </a:extLst>
          </p:cNvPr>
          <p:cNvSpPr>
            <a:spLocks noGrp="1"/>
          </p:cNvSpPr>
          <p:nvPr>
            <p:ph type="title"/>
          </p:nvPr>
        </p:nvSpPr>
        <p:spPr/>
        <p:txBody>
          <a:bodyPr>
            <a:normAutofit/>
          </a:bodyPr>
          <a:lstStyle/>
          <a:p>
            <a:r>
              <a:rPr lang="en-US" altLang="en-US" sz="3600" b="1" dirty="0">
                <a:solidFill>
                  <a:schemeClr val="tx1"/>
                </a:solidFill>
                <a:latin typeface="Arial" panose="020B0604020202020204" pitchFamily="34" charset="0"/>
              </a:rPr>
              <a:t>Model and Optimization Equations</a:t>
            </a:r>
            <a:br>
              <a:rPr lang="en-US" altLang="en-US" sz="3600" b="1" dirty="0">
                <a:solidFill>
                  <a:schemeClr val="tx1"/>
                </a:solidFill>
                <a:latin typeface="Arial" panose="020B0604020202020204" pitchFamily="34" charset="0"/>
              </a:rPr>
            </a:br>
            <a:endParaRPr lang="en-IN" sz="3600" dirty="0"/>
          </a:p>
        </p:txBody>
      </p:sp>
      <mc:AlternateContent xmlns:mc="http://schemas.openxmlformats.org/markup-compatibility/2006" xmlns:a14="http://schemas.microsoft.com/office/drawing/2010/main">
        <mc:Choice Requires="a14">
          <p:sp>
            <p:nvSpPr>
              <p:cNvPr id="4" name="Rectangle 1">
                <a:extLst>
                  <a:ext uri="{FF2B5EF4-FFF2-40B4-BE49-F238E27FC236}">
                    <a16:creationId xmlns:a16="http://schemas.microsoft.com/office/drawing/2014/main" id="{D7E47AC1-E59B-C7DF-1E87-3D2F058BF573}"/>
                  </a:ext>
                </a:extLst>
              </p:cNvPr>
              <p:cNvSpPr>
                <a:spLocks noGrp="1" noChangeArrowheads="1"/>
              </p:cNvSpPr>
              <p:nvPr>
                <p:ph idx="1"/>
              </p:nvPr>
            </p:nvSpPr>
            <p:spPr bwMode="auto">
              <a:xfrm>
                <a:off x="1066800" y="1225718"/>
                <a:ext cx="9009888" cy="62170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Semi-parametric Regression Model:</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lvl="0" indent="0" algn="just" eaLnBrk="0" fontAlgn="base" hangingPunct="0">
                  <a:spcBef>
                    <a:spcPct val="0"/>
                  </a:spcBef>
                  <a:spcAft>
                    <a:spcPct val="0"/>
                  </a:spcAft>
                  <a:buClrTx/>
                  <a:buNone/>
                </a:pPr>
                <a:endParaRPr lang="en-IN" sz="2000" i="1" dirty="0">
                  <a:latin typeface="Cambria Math" panose="02040503050406030204" pitchFamily="18" charset="0"/>
                </a:endParaRPr>
              </a:p>
              <a:p>
                <a:pPr marL="0" lvl="0" indent="0" algn="just" eaLnBrk="0" fontAlgn="base" hangingPunct="0">
                  <a:spcBef>
                    <a:spcPct val="0"/>
                  </a:spcBef>
                  <a:spcAft>
                    <a:spcPct val="0"/>
                  </a:spcAft>
                  <a:buClrTx/>
                  <a:buNone/>
                </a:pPr>
                <a14:m>
                  <m:oMathPara xmlns:m="http://schemas.openxmlformats.org/officeDocument/2006/math">
                    <m:oMathParaPr>
                      <m:jc m:val="centerGroup"/>
                    </m:oMathParaPr>
                    <m:oMath xmlns:m="http://schemas.openxmlformats.org/officeDocument/2006/math">
                      <m:r>
                        <a:rPr lang="es-ES" sz="2000" i="1" smtClean="0">
                          <a:latin typeface="Cambria Math" panose="02040503050406030204" pitchFamily="18" charset="0"/>
                        </a:rPr>
                        <m:t>𝑌</m:t>
                      </m:r>
                      <m:r>
                        <a:rPr lang="es-ES" sz="2000" i="1" smtClean="0">
                          <a:latin typeface="Cambria Math" panose="02040503050406030204" pitchFamily="18" charset="0"/>
                        </a:rPr>
                        <m:t>=</m:t>
                      </m:r>
                      <m:r>
                        <a:rPr lang="es-ES" sz="2000" i="1" smtClean="0">
                          <a:latin typeface="Cambria Math" panose="02040503050406030204" pitchFamily="18" charset="0"/>
                        </a:rPr>
                        <m:t>𝑔</m:t>
                      </m:r>
                      <m:d>
                        <m:dPr>
                          <m:ctrlPr>
                            <a:rPr lang="es-ES" sz="2000" i="1">
                              <a:latin typeface="Cambria Math" panose="02040503050406030204" pitchFamily="18" charset="0"/>
                            </a:rPr>
                          </m:ctrlPr>
                        </m:dPr>
                        <m:e>
                          <m:r>
                            <a:rPr lang="es-ES" sz="2000" i="1">
                              <a:latin typeface="Cambria Math" panose="02040503050406030204" pitchFamily="18" charset="0"/>
                            </a:rPr>
                            <m:t>𝑋</m:t>
                          </m:r>
                          <m:r>
                            <a:rPr lang="es-ES" sz="2000" i="1">
                              <a:latin typeface="Cambria Math" panose="02040503050406030204" pitchFamily="18" charset="0"/>
                            </a:rPr>
                            <m:t>,</m:t>
                          </m:r>
                          <m:r>
                            <a:rPr lang="es-ES" sz="2000" i="1">
                              <a:latin typeface="Cambria Math" panose="02040503050406030204" pitchFamily="18" charset="0"/>
                            </a:rPr>
                            <m:t>𝛽</m:t>
                          </m:r>
                        </m:e>
                      </m:d>
                      <m:r>
                        <a:rPr lang="es-ES" sz="2000" i="1">
                          <a:latin typeface="Cambria Math" panose="02040503050406030204" pitchFamily="18" charset="0"/>
                        </a:rPr>
                        <m:t>+</m:t>
                      </m:r>
                      <m:r>
                        <a:rPr lang="es-ES" sz="2000" i="1">
                          <a:latin typeface="Cambria Math" panose="02040503050406030204" pitchFamily="18" charset="0"/>
                        </a:rPr>
                        <m:t>𝑚</m:t>
                      </m:r>
                      <m:d>
                        <m:dPr>
                          <m:ctrlPr>
                            <a:rPr lang="es-ES" sz="2000" i="1">
                              <a:latin typeface="Cambria Math" panose="02040503050406030204" pitchFamily="18" charset="0"/>
                            </a:rPr>
                          </m:ctrlPr>
                        </m:dPr>
                        <m:e>
                          <m:r>
                            <a:rPr lang="es-ES" sz="2000" i="1">
                              <a:latin typeface="Cambria Math" panose="02040503050406030204" pitchFamily="18" charset="0"/>
                            </a:rPr>
                            <m:t>𝑈</m:t>
                          </m:r>
                        </m:e>
                      </m:d>
                      <m:r>
                        <a:rPr lang="es-ES" sz="2000" i="1">
                          <a:latin typeface="Cambria Math" panose="02040503050406030204" pitchFamily="18" charset="0"/>
                        </a:rPr>
                        <m:t>+</m:t>
                      </m:r>
                      <m:r>
                        <a:rPr lang="es-ES" sz="2000" i="1">
                          <a:latin typeface="Cambria Math" panose="02040503050406030204" pitchFamily="18" charset="0"/>
                        </a:rPr>
                        <m:t>𝜀</m:t>
                      </m:r>
                      <m:r>
                        <a:rPr lang="es-ES" sz="2000" i="1">
                          <a:latin typeface="Cambria Math" panose="02040503050406030204" pitchFamily="18" charset="0"/>
                        </a:rPr>
                        <m:t>,</m:t>
                      </m:r>
                    </m:oMath>
                  </m:oMathPara>
                </a14:m>
                <a:endParaRPr lang="en-IN" sz="2000" i="0" dirty="0">
                  <a:latin typeface="Arial" panose="020B0604020202020204" pitchFamily="34" charset="0"/>
                </a:endParaRPr>
              </a:p>
              <a:p>
                <a:pPr marL="0" lvl="0" indent="0" algn="just" eaLnBrk="0" fontAlgn="base" hangingPunct="0">
                  <a:spcBef>
                    <a:spcPct val="0"/>
                  </a:spcBef>
                  <a:spcAft>
                    <a:spcPct val="0"/>
                  </a:spcAft>
                  <a:buClr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lvl="0" indent="0" algn="just" eaLnBrk="0" fontAlgn="base" hangingPunct="0">
                  <a:spcBef>
                    <a:spcPct val="0"/>
                  </a:spcBef>
                  <a:spcAft>
                    <a:spcPct val="0"/>
                  </a:spcAft>
                  <a:buClrTx/>
                  <a:buNone/>
                </a:pPr>
                <a:r>
                  <a:rPr lang="en-US" altLang="en-US" sz="2000" dirty="0">
                    <a:latin typeface="Arial" panose="020B0604020202020204" pitchFamily="34" charset="0"/>
                  </a:rPr>
                  <a:t>Where</a:t>
                </a:r>
              </a:p>
              <a:p>
                <a:pPr marL="0" lvl="0" indent="0" algn="just" eaLnBrk="0" fontAlgn="base" hangingPunct="0">
                  <a:spcBef>
                    <a:spcPct val="0"/>
                  </a:spcBef>
                  <a:spcAft>
                    <a:spcPct val="0"/>
                  </a:spcAft>
                  <a:buClrTx/>
                  <a:buNone/>
                </a:pPr>
                <a:r>
                  <a:rPr lang="en-US" sz="2000" dirty="0"/>
                  <a:t>Y is a real-valued response variable</a:t>
                </a:r>
              </a:p>
              <a:p>
                <a:pPr marL="0" lvl="0" indent="0" algn="just" eaLnBrk="0" fontAlgn="base" hangingPunct="0">
                  <a:spcBef>
                    <a:spcPct val="0"/>
                  </a:spcBef>
                  <a:spcAft>
                    <a:spcPct val="0"/>
                  </a:spcAft>
                  <a:buClrTx/>
                  <a:buNone/>
                </a:pPr>
                <a14:m>
                  <m:oMath xmlns:m="http://schemas.openxmlformats.org/officeDocument/2006/math">
                    <m:r>
                      <a:rPr lang="en-IN" sz="2000" i="1" smtClean="0">
                        <a:latin typeface="Cambria Math" panose="02040503050406030204" pitchFamily="18" charset="0"/>
                        <a:ea typeface="Cambria Math" panose="02040503050406030204" pitchFamily="18" charset="0"/>
                      </a:rPr>
                      <m:t>𝛽</m:t>
                    </m:r>
                    <m:r>
                      <a:rPr lang="en-IN" sz="2000" i="1" smtClean="0">
                        <a:latin typeface="Cambria Math" panose="02040503050406030204" pitchFamily="18" charset="0"/>
                        <a:ea typeface="Cambria Math" panose="02040503050406030204" pitchFamily="18" charset="0"/>
                      </a:rPr>
                      <m:t>∈</m:t>
                    </m:r>
                    <m:sSup>
                      <m:sSupPr>
                        <m:ctrlPr>
                          <a:rPr lang="en-IN" sz="2000" i="1" smtClean="0">
                            <a:latin typeface="Cambria Math" panose="02040503050406030204" pitchFamily="18" charset="0"/>
                            <a:ea typeface="Cambria Math" panose="02040503050406030204" pitchFamily="18" charset="0"/>
                          </a:rPr>
                        </m:ctrlPr>
                      </m:sSupPr>
                      <m:e>
                        <m:r>
                          <a:rPr lang="en-IN" sz="2000" b="0" i="1" smtClean="0">
                            <a:latin typeface="Cambria Math" panose="02040503050406030204" pitchFamily="18" charset="0"/>
                            <a:ea typeface="Cambria Math" panose="02040503050406030204" pitchFamily="18" charset="0"/>
                          </a:rPr>
                          <m:t>𝑅</m:t>
                        </m:r>
                      </m:e>
                      <m:sup>
                        <m:r>
                          <a:rPr lang="en-IN" sz="2000" b="0" i="1" smtClean="0">
                            <a:latin typeface="Cambria Math" panose="02040503050406030204" pitchFamily="18" charset="0"/>
                            <a:ea typeface="Cambria Math" panose="02040503050406030204" pitchFamily="18" charset="0"/>
                          </a:rPr>
                          <m:t>𝑝</m:t>
                        </m:r>
                      </m:sup>
                    </m:sSup>
                  </m:oMath>
                </a14:m>
                <a:r>
                  <a:rPr lang="en-IN" sz="2000" dirty="0"/>
                  <a:t>is a p-dimensional unknown parameter vector</a:t>
                </a:r>
              </a:p>
              <a:p>
                <a:pPr marL="0" lvl="0" indent="0" algn="just" eaLnBrk="0" fontAlgn="base" hangingPunct="0">
                  <a:spcBef>
                    <a:spcPct val="0"/>
                  </a:spcBef>
                  <a:spcAft>
                    <a:spcPct val="0"/>
                  </a:spcAft>
                  <a:buClrTx/>
                  <a:buNone/>
                </a:pPr>
                <a:r>
                  <a:rPr lang="en-IN" sz="2000" dirty="0"/>
                  <a:t>X is a d-dimensional covariate</a:t>
                </a:r>
              </a:p>
              <a:p>
                <a:pPr marL="0" lvl="0" indent="0" algn="just" eaLnBrk="0" fontAlgn="base" hangingPunct="0">
                  <a:spcBef>
                    <a:spcPct val="0"/>
                  </a:spcBef>
                  <a:spcAft>
                    <a:spcPct val="0"/>
                  </a:spcAft>
                  <a:buClrTx/>
                  <a:buNone/>
                </a:pPr>
                <a:r>
                  <a:rPr lang="en-US" altLang="en-US" sz="2000" dirty="0">
                    <a:latin typeface="Century Gothic" panose="020B0502020202020204" pitchFamily="34" charset="0"/>
                    <a:ea typeface="Cambria Math" panose="02040503050406030204" pitchFamily="18" charset="0"/>
                  </a:rPr>
                  <a:t>g( ) is a known and measurable function.</a:t>
                </a:r>
              </a:p>
              <a:p>
                <a:pPr marL="0" lvl="0" indent="0" algn="just" eaLnBrk="0" fontAlgn="base" hangingPunct="0">
                  <a:spcBef>
                    <a:spcPct val="0"/>
                  </a:spcBef>
                  <a:spcAft>
                    <a:spcPct val="0"/>
                  </a:spcAft>
                  <a:buClrTx/>
                  <a:buNone/>
                </a:pPr>
                <a:r>
                  <a:rPr lang="en-US" altLang="en-US" sz="2000" dirty="0">
                    <a:latin typeface="Century Gothic" panose="020B0502020202020204" pitchFamily="34" charset="0"/>
                    <a:ea typeface="Cambria Math" panose="02040503050406030204" pitchFamily="18" charset="0"/>
                  </a:rPr>
                  <a:t>U [0,1] is a random variable.</a:t>
                </a:r>
              </a:p>
              <a:p>
                <a:pPr marL="0" lvl="0" indent="0" algn="just" eaLnBrk="0" fontAlgn="base" hangingPunct="0">
                  <a:spcBef>
                    <a:spcPct val="0"/>
                  </a:spcBef>
                  <a:spcAft>
                    <a:spcPct val="0"/>
                  </a:spcAft>
                  <a:buClrTx/>
                  <a:buNone/>
                </a:pPr>
                <a:r>
                  <a:rPr lang="en-US" altLang="en-US" sz="2000" dirty="0">
                    <a:latin typeface="Century Gothic" panose="020B0502020202020204" pitchFamily="34" charset="0"/>
                    <a:ea typeface="Cambria Math" panose="02040503050406030204" pitchFamily="18" charset="0"/>
                  </a:rPr>
                  <a:t>M() is a smooth, unknown function defined on [0,1].</a:t>
                </a:r>
              </a:p>
              <a:p>
                <a:pPr marL="0" lvl="0" indent="0" algn="just" eaLnBrk="0" fontAlgn="base" hangingPunct="0">
                  <a:spcBef>
                    <a:spcPct val="0"/>
                  </a:spcBef>
                  <a:spcAft>
                    <a:spcPct val="0"/>
                  </a:spcAft>
                  <a:buClrTx/>
                  <a:buNone/>
                </a:pPr>
                <a:r>
                  <a:rPr lang="en-US" altLang="en-US" sz="2000" dirty="0">
                    <a:latin typeface="Century Gothic" panose="020B0502020202020204" pitchFamily="34" charset="0"/>
                    <a:ea typeface="Cambria Math" panose="02040503050406030204" pitchFamily="18" charset="0"/>
                  </a:rPr>
                  <a:t> </a:t>
                </a:r>
                <a14:m>
                  <m:oMath xmlns:m="http://schemas.openxmlformats.org/officeDocument/2006/math">
                    <m:r>
                      <a:rPr lang="en-US" altLang="en-US" sz="2000" i="1" smtClean="0">
                        <a:latin typeface="Cambria Math" panose="02040503050406030204" pitchFamily="18" charset="0"/>
                        <a:ea typeface="Cambria Math" panose="02040503050406030204" pitchFamily="18" charset="0"/>
                      </a:rPr>
                      <m:t>𝜀</m:t>
                    </m:r>
                  </m:oMath>
                </a14:m>
                <a:r>
                  <a:rPr lang="en-US" altLang="en-US" sz="2000" dirty="0">
                    <a:latin typeface="Century Gothic" panose="020B0502020202020204" pitchFamily="34" charset="0"/>
                    <a:ea typeface="Cambria Math" panose="02040503050406030204" pitchFamily="18" charset="0"/>
                  </a:rPr>
                  <a:t> is a random error.</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1"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Partially Linear Model (PLM) with B-Splines: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endParaRPr lang="en-US" altLang="en-US" sz="20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4" name="Rectangle 1">
                <a:extLst>
                  <a:ext uri="{FF2B5EF4-FFF2-40B4-BE49-F238E27FC236}">
                    <a16:creationId xmlns:a16="http://schemas.microsoft.com/office/drawing/2014/main" id="{D7E47AC1-E59B-C7DF-1E87-3D2F058BF573}"/>
                  </a:ext>
                </a:extLst>
              </p:cNvPr>
              <p:cNvSpPr>
                <a:spLocks noGrp="1" noRot="1" noChangeAspect="1" noMove="1" noResize="1" noEditPoints="1" noAdjustHandles="1" noChangeArrowheads="1" noChangeShapeType="1" noTextEdit="1"/>
              </p:cNvSpPr>
              <p:nvPr>
                <p:ph idx="1"/>
              </p:nvPr>
            </p:nvSpPr>
            <p:spPr bwMode="auto">
              <a:xfrm>
                <a:off x="1066800" y="1225718"/>
                <a:ext cx="9009888" cy="6217087"/>
              </a:xfrm>
              <a:prstGeom prst="rect">
                <a:avLst/>
              </a:prstGeom>
              <a:blipFill>
                <a:blip r:embed="rId2"/>
                <a:stretch>
                  <a:fillRect l="-67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
        <p:nvSpPr>
          <p:cNvPr id="3" name="TextBox 2">
            <a:extLst>
              <a:ext uri="{FF2B5EF4-FFF2-40B4-BE49-F238E27FC236}">
                <a16:creationId xmlns:a16="http://schemas.microsoft.com/office/drawing/2014/main" id="{1A71AF41-47DB-12DA-A03A-A560A7D3DE5B}"/>
              </a:ext>
            </a:extLst>
          </p:cNvPr>
          <p:cNvSpPr txBox="1"/>
          <p:nvPr/>
        </p:nvSpPr>
        <p:spPr>
          <a:xfrm>
            <a:off x="5638800" y="3187700"/>
            <a:ext cx="65" cy="276999"/>
          </a:xfrm>
          <a:prstGeom prst="rect">
            <a:avLst/>
          </a:prstGeom>
          <a:noFill/>
        </p:spPr>
        <p:txBody>
          <a:bodyPr wrap="none" lIns="0" tIns="0" rIns="0" bIns="0" rtlCol="0">
            <a:spAutoFit/>
          </a:bodyPr>
          <a:lstStyle/>
          <a:p>
            <a:endParaRPr lang="en-I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1F8A125-C2D5-D9D0-C490-05754385EA8A}"/>
                  </a:ext>
                </a:extLst>
              </p:cNvPr>
              <p:cNvSpPr txBox="1"/>
              <p:nvPr/>
            </p:nvSpPr>
            <p:spPr>
              <a:xfrm>
                <a:off x="3962465" y="5575300"/>
                <a:ext cx="4017683" cy="830997"/>
              </a:xfrm>
              <a:prstGeom prst="rect">
                <a:avLst/>
              </a:prstGeom>
              <a:noFill/>
            </p:spPr>
            <p:txBody>
              <a:bodyPr wrap="square" lIns="0" tIns="0" rIns="0" bIns="0" rtlCol="0">
                <a:spAutoFit/>
              </a:bodyPr>
              <a:lstStyle/>
              <a:p>
                <a:endParaRPr lang="sv-SE"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sv-SE" i="1" smtClean="0">
                          <a:latin typeface="Cambria Math" panose="02040503050406030204" pitchFamily="18" charset="0"/>
                        </a:rPr>
                        <m:t>𝑌</m:t>
                      </m:r>
                      <m:r>
                        <a:rPr lang="sv-SE" i="1" smtClean="0">
                          <a:latin typeface="Cambria Math" panose="02040503050406030204" pitchFamily="18" charset="0"/>
                        </a:rPr>
                        <m:t>=</m:t>
                      </m:r>
                      <m:sSup>
                        <m:sSupPr>
                          <m:ctrlPr>
                            <a:rPr lang="sv-SE" i="1">
                              <a:latin typeface="Cambria Math" panose="02040503050406030204" pitchFamily="18" charset="0"/>
                            </a:rPr>
                          </m:ctrlPr>
                        </m:sSupPr>
                        <m:e>
                          <m:r>
                            <a:rPr lang="sv-SE" i="1">
                              <a:latin typeface="Cambria Math" panose="02040503050406030204" pitchFamily="18" charset="0"/>
                            </a:rPr>
                            <m:t>𝑋</m:t>
                          </m:r>
                        </m:e>
                        <m:sup>
                          <m:r>
                            <a:rPr lang="sv-SE" i="1">
                              <a:latin typeface="Cambria Math" panose="02040503050406030204" pitchFamily="18" charset="0"/>
                            </a:rPr>
                            <m:t>𝑇</m:t>
                          </m:r>
                        </m:sup>
                      </m:sSup>
                      <m:r>
                        <a:rPr lang="sv-SE" i="1">
                          <a:latin typeface="Cambria Math" panose="02040503050406030204" pitchFamily="18" charset="0"/>
                        </a:rPr>
                        <m:t>𝛽</m:t>
                      </m:r>
                      <m:r>
                        <a:rPr lang="sv-SE" i="1">
                          <a:latin typeface="Cambria Math" panose="02040503050406030204" pitchFamily="18" charset="0"/>
                        </a:rPr>
                        <m:t>+</m:t>
                      </m:r>
                      <m:sSup>
                        <m:sSupPr>
                          <m:ctrlPr>
                            <a:rPr lang="sv-SE" i="1">
                              <a:latin typeface="Cambria Math" panose="02040503050406030204" pitchFamily="18" charset="0"/>
                            </a:rPr>
                          </m:ctrlPr>
                        </m:sSupPr>
                        <m:e>
                          <m:r>
                            <a:rPr lang="sv-SE" i="1">
                              <a:latin typeface="Cambria Math" panose="02040503050406030204" pitchFamily="18" charset="0"/>
                            </a:rPr>
                            <m:t>𝐵</m:t>
                          </m:r>
                        </m:e>
                        <m:sup>
                          <m:r>
                            <a:rPr lang="sv-SE" i="1">
                              <a:latin typeface="Cambria Math" panose="02040503050406030204" pitchFamily="18" charset="0"/>
                            </a:rPr>
                            <m:t>𝑇</m:t>
                          </m:r>
                        </m:sup>
                      </m:sSup>
                      <m:r>
                        <a:rPr lang="sv-SE" i="1">
                          <a:latin typeface="Cambria Math" panose="02040503050406030204" pitchFamily="18" charset="0"/>
                        </a:rPr>
                        <m:t>𝛾</m:t>
                      </m:r>
                      <m:r>
                        <a:rPr lang="sv-SE" i="1">
                          <a:latin typeface="Cambria Math" panose="02040503050406030204" pitchFamily="18" charset="0"/>
                        </a:rPr>
                        <m:t>+</m:t>
                      </m:r>
                      <m:r>
                        <a:rPr lang="sv-SE" i="1" smtClean="0">
                          <a:latin typeface="Cambria Math" panose="02040503050406030204" pitchFamily="18" charset="0"/>
                          <a:ea typeface="Cambria Math" panose="02040503050406030204" pitchFamily="18" charset="0"/>
                        </a:rPr>
                        <m:t>𝜀</m:t>
                      </m:r>
                    </m:oMath>
                  </m:oMathPara>
                </a14:m>
                <a:endParaRPr lang="sv-SE" i="1" dirty="0">
                  <a:latin typeface="Cambria Math" panose="02040503050406030204" pitchFamily="18" charset="0"/>
                </a:endParaRPr>
              </a:p>
              <a:p>
                <a:endParaRPr lang="en-IN" dirty="0"/>
              </a:p>
            </p:txBody>
          </p:sp>
        </mc:Choice>
        <mc:Fallback xmlns="">
          <p:sp>
            <p:nvSpPr>
              <p:cNvPr id="6" name="TextBox 5">
                <a:extLst>
                  <a:ext uri="{FF2B5EF4-FFF2-40B4-BE49-F238E27FC236}">
                    <a16:creationId xmlns:a16="http://schemas.microsoft.com/office/drawing/2014/main" id="{A1F8A125-C2D5-D9D0-C490-05754385EA8A}"/>
                  </a:ext>
                </a:extLst>
              </p:cNvPr>
              <p:cNvSpPr txBox="1">
                <a:spLocks noRot="1" noChangeAspect="1" noMove="1" noResize="1" noEditPoints="1" noAdjustHandles="1" noChangeArrowheads="1" noChangeShapeType="1" noTextEdit="1"/>
              </p:cNvSpPr>
              <p:nvPr/>
            </p:nvSpPr>
            <p:spPr>
              <a:xfrm>
                <a:off x="3962465" y="5575300"/>
                <a:ext cx="4017683" cy="830997"/>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70986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80D39F-3172-9831-CCC0-2F00F4902599}"/>
                  </a:ext>
                </a:extLst>
              </p:cNvPr>
              <p:cNvSpPr>
                <a:spLocks noGrp="1"/>
              </p:cNvSpPr>
              <p:nvPr>
                <p:ph idx="1"/>
              </p:nvPr>
            </p:nvSpPr>
            <p:spPr>
              <a:xfrm>
                <a:off x="1066800" y="438411"/>
                <a:ext cx="10058400" cy="5596629"/>
              </a:xfrm>
            </p:spPr>
            <p:txBody>
              <a:bodyPr/>
              <a:lstStyle/>
              <a:p>
                <a:pPr marL="0" indent="0" algn="just" eaLnBrk="0" fontAlgn="base" hangingPunct="0">
                  <a:spcBef>
                    <a:spcPct val="0"/>
                  </a:spcBef>
                  <a:spcAft>
                    <a:spcPct val="0"/>
                  </a:spcAft>
                  <a:buClrTx/>
                  <a:buNone/>
                </a:pPr>
                <a:r>
                  <a:rPr lang="en-IN" altLang="en-US" b="1" dirty="0">
                    <a:latin typeface="Arial" panose="020B0604020202020204" pitchFamily="34" charset="0"/>
                  </a:rPr>
                  <a:t> </a:t>
                </a:r>
                <a:endParaRPr lang="en-US" altLang="en-US" b="1" dirty="0">
                  <a:latin typeface="Arial" panose="020B0604020202020204" pitchFamily="34" charset="0"/>
                </a:endParaRPr>
              </a:p>
              <a:p>
                <a:pPr algn="just" eaLnBrk="0" fontAlgn="base" hangingPunct="0">
                  <a:spcBef>
                    <a:spcPct val="0"/>
                  </a:spcBef>
                  <a:spcAft>
                    <a:spcPct val="0"/>
                  </a:spcAft>
                  <a:buClrTx/>
                </a:pPr>
                <a:r>
                  <a:rPr lang="en-US" altLang="en-US" b="1" dirty="0">
                    <a:latin typeface="Arial" panose="020B0604020202020204" pitchFamily="34" charset="0"/>
                  </a:rPr>
                  <a:t>Approximated Model for an Individual Sample:</a:t>
                </a:r>
                <a:r>
                  <a:rPr lang="en-US" altLang="en-US" dirty="0">
                    <a:latin typeface="Arial" panose="020B0604020202020204" pitchFamily="34" charset="0"/>
                  </a:rPr>
                  <a:t> </a:t>
                </a:r>
              </a:p>
              <a:p>
                <a:pPr marL="0" lvl="0" indent="0" algn="just" eaLnBrk="0" fontAlgn="base" hangingPunct="0">
                  <a:spcBef>
                    <a:spcPct val="0"/>
                  </a:spcBef>
                  <a:spcAft>
                    <a:spcPct val="0"/>
                  </a:spcAft>
                  <a:buClrTx/>
                  <a:buFontTx/>
                  <a:buChar char="•"/>
                </a:pPr>
                <a:endParaRPr lang="en-US" altLang="en-US" dirty="0">
                  <a:latin typeface="Arial" panose="020B0604020202020204" pitchFamily="34" charset="0"/>
                </a:endParaRPr>
              </a:p>
              <a:p>
                <a:pPr marL="0" lvl="0" indent="0" algn="just" eaLnBrk="0" fontAlgn="base" hangingPunct="0">
                  <a:spcBef>
                    <a:spcPct val="0"/>
                  </a:spcBef>
                  <a:spcAft>
                    <a:spcPct val="0"/>
                  </a:spcAft>
                  <a:buClrTx/>
                  <a:buNone/>
                </a:pPr>
                <a14:m>
                  <m:oMathPara xmlns:m="http://schemas.openxmlformats.org/officeDocument/2006/math">
                    <m:oMathParaPr>
                      <m:jc m:val="centerGroup"/>
                    </m:oMathParaPr>
                    <m:oMath xmlns:m="http://schemas.openxmlformats.org/officeDocument/2006/math">
                      <m:sSub>
                        <m:sSubPr>
                          <m:ctrlPr>
                            <a:rPr lang="en-IN" altLang="en-US" i="1" smtClean="0">
                              <a:latin typeface="Cambria Math" panose="02040503050406030204" pitchFamily="18" charset="0"/>
                            </a:rPr>
                          </m:ctrlPr>
                        </m:sSubPr>
                        <m:e>
                          <m:r>
                            <a:rPr lang="en-IN" altLang="en-US" i="1">
                              <a:latin typeface="Cambria Math" panose="02040503050406030204" pitchFamily="18" charset="0"/>
                            </a:rPr>
                            <m:t>𝑌</m:t>
                          </m:r>
                        </m:e>
                        <m:sub>
                          <m:r>
                            <a:rPr lang="en-IN" altLang="en-US" i="1">
                              <a:latin typeface="Cambria Math" panose="02040503050406030204" pitchFamily="18" charset="0"/>
                            </a:rPr>
                            <m:t>𝑖</m:t>
                          </m:r>
                        </m:sub>
                      </m:sSub>
                      <m:r>
                        <a:rPr lang="en-IN" altLang="en-US" i="1">
                          <a:latin typeface="Cambria Math" panose="02040503050406030204" pitchFamily="18" charset="0"/>
                        </a:rPr>
                        <m:t>=</m:t>
                      </m:r>
                      <m:sSubSup>
                        <m:sSubSupPr>
                          <m:ctrlPr>
                            <a:rPr lang="en-IN" altLang="en-US" i="1">
                              <a:latin typeface="Cambria Math" panose="02040503050406030204" pitchFamily="18" charset="0"/>
                            </a:rPr>
                          </m:ctrlPr>
                        </m:sSubSupPr>
                        <m:e>
                          <m:r>
                            <a:rPr lang="en-IN" altLang="en-US" i="1">
                              <a:latin typeface="Cambria Math" panose="02040503050406030204" pitchFamily="18" charset="0"/>
                            </a:rPr>
                            <m:t>𝑋</m:t>
                          </m:r>
                        </m:e>
                        <m:sub>
                          <m:r>
                            <a:rPr lang="en-IN" altLang="en-US" i="1">
                              <a:latin typeface="Cambria Math" panose="02040503050406030204" pitchFamily="18" charset="0"/>
                            </a:rPr>
                            <m:t>𝑖</m:t>
                          </m:r>
                        </m:sub>
                        <m:sup>
                          <m:r>
                            <a:rPr lang="en-IN" altLang="en-US" i="1">
                              <a:latin typeface="Cambria Math" panose="02040503050406030204" pitchFamily="18" charset="0"/>
                            </a:rPr>
                            <m:t>𝑇</m:t>
                          </m:r>
                        </m:sup>
                      </m:sSubSup>
                      <m:r>
                        <a:rPr lang="en-IN" altLang="en-US" i="1">
                          <a:latin typeface="Cambria Math" panose="02040503050406030204" pitchFamily="18" charset="0"/>
                        </a:rPr>
                        <m:t>𝛽</m:t>
                      </m:r>
                      <m:r>
                        <a:rPr lang="en-IN" altLang="en-US" i="1">
                          <a:latin typeface="Cambria Math" panose="02040503050406030204" pitchFamily="18" charset="0"/>
                        </a:rPr>
                        <m:t>+</m:t>
                      </m:r>
                      <m:r>
                        <a:rPr lang="en-IN" altLang="en-US" i="1">
                          <a:latin typeface="Cambria Math" panose="02040503050406030204" pitchFamily="18" charset="0"/>
                        </a:rPr>
                        <m:t>𝐵</m:t>
                      </m:r>
                      <m:sSup>
                        <m:sSupPr>
                          <m:ctrlPr>
                            <a:rPr lang="en-IN" altLang="en-US" i="1">
                              <a:latin typeface="Cambria Math" panose="02040503050406030204" pitchFamily="18" charset="0"/>
                            </a:rPr>
                          </m:ctrlPr>
                        </m:sSupPr>
                        <m:e>
                          <m:d>
                            <m:dPr>
                              <m:ctrlPr>
                                <a:rPr lang="en-IN" altLang="en-US" i="1">
                                  <a:latin typeface="Cambria Math" panose="02040503050406030204" pitchFamily="18" charset="0"/>
                                </a:rPr>
                              </m:ctrlPr>
                            </m:dPr>
                            <m:e>
                              <m:sSub>
                                <m:sSubPr>
                                  <m:ctrlPr>
                                    <a:rPr lang="en-IN" altLang="en-US" i="1">
                                      <a:latin typeface="Cambria Math" panose="02040503050406030204" pitchFamily="18" charset="0"/>
                                    </a:rPr>
                                  </m:ctrlPr>
                                </m:sSubPr>
                                <m:e>
                                  <m:r>
                                    <a:rPr lang="en-IN" altLang="en-US" i="1">
                                      <a:latin typeface="Cambria Math" panose="02040503050406030204" pitchFamily="18" charset="0"/>
                                    </a:rPr>
                                    <m:t>𝑍</m:t>
                                  </m:r>
                                </m:e>
                                <m:sub>
                                  <m:r>
                                    <a:rPr lang="en-IN" altLang="en-US" i="1">
                                      <a:latin typeface="Cambria Math" panose="02040503050406030204" pitchFamily="18" charset="0"/>
                                    </a:rPr>
                                    <m:t>𝑖</m:t>
                                  </m:r>
                                </m:sub>
                              </m:sSub>
                            </m:e>
                          </m:d>
                        </m:e>
                        <m:sup>
                          <m:r>
                            <a:rPr lang="en-IN" altLang="en-US" i="1">
                              <a:latin typeface="Cambria Math" panose="02040503050406030204" pitchFamily="18" charset="0"/>
                            </a:rPr>
                            <m:t>𝑇</m:t>
                          </m:r>
                        </m:sup>
                      </m:sSup>
                      <m:r>
                        <a:rPr lang="en-IN" altLang="en-US" i="1">
                          <a:latin typeface="Cambria Math" panose="02040503050406030204" pitchFamily="18" charset="0"/>
                        </a:rPr>
                        <m:t>𝛾</m:t>
                      </m:r>
                      <m:r>
                        <a:rPr lang="en-IN" altLang="en-US" i="1">
                          <a:latin typeface="Cambria Math" panose="02040503050406030204" pitchFamily="18" charset="0"/>
                        </a:rPr>
                        <m:t>+</m:t>
                      </m:r>
                      <m:sSub>
                        <m:sSubPr>
                          <m:ctrlPr>
                            <a:rPr lang="en-IN" altLang="en-US" i="1">
                              <a:latin typeface="Cambria Math" panose="02040503050406030204" pitchFamily="18" charset="0"/>
                            </a:rPr>
                          </m:ctrlPr>
                        </m:sSubPr>
                        <m:e>
                          <m:r>
                            <a:rPr lang="en-IN" altLang="en-US" i="1">
                              <a:latin typeface="Cambria Math" panose="02040503050406030204" pitchFamily="18" charset="0"/>
                            </a:rPr>
                            <m:t>𝜀</m:t>
                          </m:r>
                        </m:e>
                        <m:sub>
                          <m:r>
                            <a:rPr lang="en-IN" altLang="en-US" i="1">
                              <a:latin typeface="Cambria Math" panose="02040503050406030204" pitchFamily="18" charset="0"/>
                            </a:rPr>
                            <m:t>𝑖</m:t>
                          </m:r>
                        </m:sub>
                      </m:sSub>
                    </m:oMath>
                  </m:oMathPara>
                </a14:m>
                <a:endParaRPr lang="en-IN" altLang="en-US" i="1" dirty="0">
                  <a:latin typeface="Cambria Math" panose="02040503050406030204" pitchFamily="18" charset="0"/>
                </a:endParaRPr>
              </a:p>
              <a:p>
                <a:pPr marL="0" lvl="0" indent="0" algn="just" eaLnBrk="0" fontAlgn="base" hangingPunct="0">
                  <a:spcBef>
                    <a:spcPct val="0"/>
                  </a:spcBef>
                  <a:spcAft>
                    <a:spcPct val="0"/>
                  </a:spcAft>
                  <a:buClrTx/>
                  <a:buNone/>
                </a:pPr>
                <a:endParaRPr lang="en-IN" altLang="en-US" i="1" dirty="0">
                  <a:latin typeface="Cambria Math" panose="02040503050406030204" pitchFamily="18" charset="0"/>
                </a:endParaRPr>
              </a:p>
              <a:p>
                <a:pPr marL="0" lvl="0" indent="0" algn="just" eaLnBrk="0" fontAlgn="base" hangingPunct="0">
                  <a:spcBef>
                    <a:spcPct val="0"/>
                  </a:spcBef>
                  <a:spcAft>
                    <a:spcPct val="0"/>
                  </a:spcAft>
                  <a:buClrTx/>
                  <a:buNone/>
                </a:pPr>
                <a:endParaRPr lang="en-IN" altLang="en-US" dirty="0">
                  <a:latin typeface="Arial" panose="020B0604020202020204" pitchFamily="34" charset="0"/>
                </a:endParaRPr>
              </a:p>
              <a:p>
                <a:pPr algn="just" eaLnBrk="0" fontAlgn="base" hangingPunct="0">
                  <a:spcBef>
                    <a:spcPct val="0"/>
                  </a:spcBef>
                  <a:spcAft>
                    <a:spcPct val="0"/>
                  </a:spcAft>
                  <a:buClrTx/>
                </a:pPr>
                <a:endParaRPr lang="en-US" altLang="en-US" dirty="0">
                  <a:latin typeface="Arial" panose="020B0604020202020204" pitchFamily="34" charset="0"/>
                </a:endParaRPr>
              </a:p>
              <a:p>
                <a:pPr algn="just" eaLnBrk="0" fontAlgn="base" hangingPunct="0">
                  <a:spcBef>
                    <a:spcPct val="0"/>
                  </a:spcBef>
                  <a:spcAft>
                    <a:spcPct val="0"/>
                  </a:spcAft>
                  <a:buClrTx/>
                </a:pPr>
                <a:endParaRPr lang="en-US" altLang="en-US" dirty="0">
                  <a:latin typeface="Arial" panose="020B0604020202020204" pitchFamily="34" charset="0"/>
                </a:endParaRPr>
              </a:p>
              <a:p>
                <a:pPr algn="just" eaLnBrk="0" fontAlgn="base" hangingPunct="0">
                  <a:spcBef>
                    <a:spcPct val="0"/>
                  </a:spcBef>
                  <a:spcAft>
                    <a:spcPct val="0"/>
                  </a:spcAft>
                  <a:buClrTx/>
                </a:pPr>
                <a:r>
                  <a:rPr lang="en-US" altLang="en-US" b="1" dirty="0">
                    <a:latin typeface="Century Gothic" panose="020B0502020202020204" pitchFamily="34" charset="0"/>
                  </a:rPr>
                  <a:t>Optimization Equation:</a:t>
                </a:r>
              </a:p>
            </p:txBody>
          </p:sp>
        </mc:Choice>
        <mc:Fallback xmlns="">
          <p:sp>
            <p:nvSpPr>
              <p:cNvPr id="3" name="Content Placeholder 2">
                <a:extLst>
                  <a:ext uri="{FF2B5EF4-FFF2-40B4-BE49-F238E27FC236}">
                    <a16:creationId xmlns:a16="http://schemas.microsoft.com/office/drawing/2014/main" id="{0180D39F-3172-9831-CCC0-2F00F4902599}"/>
                  </a:ext>
                </a:extLst>
              </p:cNvPr>
              <p:cNvSpPr>
                <a:spLocks noGrp="1" noRot="1" noChangeAspect="1" noMove="1" noResize="1" noEditPoints="1" noAdjustHandles="1" noChangeArrowheads="1" noChangeShapeType="1" noTextEdit="1"/>
              </p:cNvSpPr>
              <p:nvPr>
                <p:ph idx="1"/>
              </p:nvPr>
            </p:nvSpPr>
            <p:spPr>
              <a:xfrm>
                <a:off x="1066800" y="438411"/>
                <a:ext cx="10058400" cy="5596629"/>
              </a:xfrm>
              <a:blipFill>
                <a:blip r:embed="rId2"/>
                <a:stretch>
                  <a:fillRect l="-4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478B9B6-1783-DE66-D94B-6AAAB5323C9C}"/>
                  </a:ext>
                </a:extLst>
              </p:cNvPr>
              <p:cNvSpPr txBox="1"/>
              <p:nvPr/>
            </p:nvSpPr>
            <p:spPr>
              <a:xfrm>
                <a:off x="3844056" y="3269382"/>
                <a:ext cx="4100418" cy="7956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𝑚𝑖</m:t>
                      </m:r>
                      <m:sSub>
                        <m:sSubPr>
                          <m:ctrlPr>
                            <a:rPr lang="en-IN" i="1">
                              <a:latin typeface="Cambria Math" panose="02040503050406030204" pitchFamily="18" charset="0"/>
                            </a:rPr>
                          </m:ctrlPr>
                        </m:sSubPr>
                        <m:e>
                          <m:r>
                            <a:rPr lang="en-IN" i="1">
                              <a:latin typeface="Cambria Math" panose="02040503050406030204" pitchFamily="18" charset="0"/>
                            </a:rPr>
                            <m:t>𝑛</m:t>
                          </m:r>
                        </m:e>
                        <m:sub>
                          <m:r>
                            <a:rPr lang="en-IN" i="1">
                              <a:latin typeface="Cambria Math" panose="02040503050406030204" pitchFamily="18" charset="0"/>
                            </a:rPr>
                            <m:t>𝛽</m:t>
                          </m:r>
                          <m:r>
                            <a:rPr lang="en-IN" i="1">
                              <a:latin typeface="Cambria Math" panose="02040503050406030204" pitchFamily="18" charset="0"/>
                            </a:rPr>
                            <m:t>,</m:t>
                          </m:r>
                          <m:r>
                            <a:rPr lang="en-IN" i="1">
                              <a:latin typeface="Cambria Math" panose="02040503050406030204" pitchFamily="18" charset="0"/>
                            </a:rPr>
                            <m:t>𝛾</m:t>
                          </m:r>
                        </m:sub>
                      </m:sSub>
                      <m:r>
                        <a:rPr lang="en-IN" i="1">
                          <a:latin typeface="Cambria Math" panose="02040503050406030204" pitchFamily="18" charset="0"/>
                        </a:rPr>
                        <m:t> </m:t>
                      </m:r>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2</m:t>
                          </m:r>
                        </m:den>
                      </m:f>
                      <m:r>
                        <m:rPr>
                          <m:lit/>
                        </m:rPr>
                        <a:rPr lang="en-IN" i="1">
                          <a:latin typeface="Cambria Math" panose="02040503050406030204" pitchFamily="18" charset="0"/>
                        </a:rPr>
                        <m:t>|</m:t>
                      </m:r>
                      <m:r>
                        <a:rPr lang="en-IN" i="1">
                          <a:latin typeface="Cambria Math" panose="02040503050406030204" pitchFamily="18" charset="0"/>
                        </a:rPr>
                        <m:t>𝑌</m:t>
                      </m:r>
                      <m:r>
                        <a:rPr lang="en-IN" i="1">
                          <a:latin typeface="Cambria Math" panose="02040503050406030204" pitchFamily="18" charset="0"/>
                        </a:rPr>
                        <m:t>−</m:t>
                      </m:r>
                      <m:r>
                        <a:rPr lang="en-IN" i="1">
                          <a:latin typeface="Cambria Math" panose="02040503050406030204" pitchFamily="18" charset="0"/>
                        </a:rPr>
                        <m:t>𝑋</m:t>
                      </m:r>
                      <m:r>
                        <a:rPr lang="en-IN" i="1">
                          <a:latin typeface="Cambria Math" panose="02040503050406030204" pitchFamily="18" charset="0"/>
                        </a:rPr>
                        <m:t>𝛽</m:t>
                      </m:r>
                      <m:r>
                        <a:rPr lang="en-IN" i="1">
                          <a:latin typeface="Cambria Math" panose="02040503050406030204" pitchFamily="18" charset="0"/>
                        </a:rPr>
                        <m:t>−</m:t>
                      </m:r>
                      <m:r>
                        <a:rPr lang="en-IN" i="1">
                          <a:latin typeface="Cambria Math" panose="02040503050406030204" pitchFamily="18" charset="0"/>
                        </a:rPr>
                        <m:t>𝐵</m:t>
                      </m:r>
                      <m:r>
                        <a:rPr lang="en-IN" i="1">
                          <a:latin typeface="Cambria Math" panose="02040503050406030204" pitchFamily="18" charset="0"/>
                        </a:rPr>
                        <m:t>𝛾</m:t>
                      </m:r>
                      <m:sSup>
                        <m:sSupPr>
                          <m:ctrlPr>
                            <a:rPr lang="en-IN" i="1">
                              <a:latin typeface="Cambria Math" panose="02040503050406030204" pitchFamily="18" charset="0"/>
                            </a:rPr>
                          </m:ctrlPr>
                        </m:sSupPr>
                        <m:e>
                          <m:r>
                            <m:rPr>
                              <m:lit/>
                            </m:rPr>
                            <a:rPr lang="en-IN" i="1">
                              <a:latin typeface="Cambria Math" panose="02040503050406030204" pitchFamily="18" charset="0"/>
                            </a:rPr>
                            <m:t>|</m:t>
                          </m:r>
                        </m:e>
                        <m:sup>
                          <m:r>
                            <a:rPr lang="en-IN" i="1">
                              <a:latin typeface="Cambria Math" panose="02040503050406030204" pitchFamily="18" charset="0"/>
                            </a:rPr>
                            <m:t>2</m:t>
                          </m:r>
                        </m:sup>
                      </m:sSup>
                      <m:r>
                        <a:rPr lang="en-IN" i="1">
                          <a:latin typeface="Cambria Math" panose="02040503050406030204" pitchFamily="18" charset="0"/>
                        </a:rPr>
                        <m:t> </m:t>
                      </m:r>
                      <m:r>
                        <m:rPr>
                          <m:nor/>
                        </m:rPr>
                        <a:rPr lang="en-IN" i="0">
                          <a:latin typeface="Cambria Math" panose="02040503050406030204" pitchFamily="18" charset="0"/>
                        </a:rPr>
                        <m:t>s</m:t>
                      </m:r>
                      <m:r>
                        <m:rPr>
                          <m:nor/>
                        </m:rPr>
                        <a:rPr lang="en-IN" i="0">
                          <a:latin typeface="Cambria Math" panose="02040503050406030204" pitchFamily="18" charset="0"/>
                        </a:rPr>
                        <m:t>.</m:t>
                      </m:r>
                      <m:r>
                        <m:rPr>
                          <m:nor/>
                        </m:rPr>
                        <a:rPr lang="en-IN" i="0">
                          <a:latin typeface="Cambria Math" panose="02040503050406030204" pitchFamily="18" charset="0"/>
                        </a:rPr>
                        <m:t>t</m:t>
                      </m:r>
                      <m:r>
                        <m:rPr>
                          <m:nor/>
                        </m:rPr>
                        <a:rPr lang="en-IN" i="0">
                          <a:latin typeface="Cambria Math" panose="02040503050406030204" pitchFamily="18" charset="0"/>
                        </a:rPr>
                        <m:t>. </m:t>
                      </m:r>
                      <m:r>
                        <a:rPr lang="en-IN" i="1">
                          <a:latin typeface="Cambria Math" panose="02040503050406030204" pitchFamily="18" charset="0"/>
                        </a:rPr>
                        <m:t>𝑅</m:t>
                      </m:r>
                      <m:r>
                        <a:rPr lang="en-IN" i="1">
                          <a:latin typeface="Cambria Math" panose="02040503050406030204" pitchFamily="18" charset="0"/>
                        </a:rPr>
                        <m:t>𝛽</m:t>
                      </m:r>
                      <m:r>
                        <a:rPr lang="en-IN" i="1">
                          <a:latin typeface="Cambria Math" panose="02040503050406030204" pitchFamily="18" charset="0"/>
                        </a:rPr>
                        <m:t>=</m:t>
                      </m:r>
                      <m:r>
                        <a:rPr lang="en-IN" i="1">
                          <a:latin typeface="Cambria Math" panose="02040503050406030204" pitchFamily="18" charset="0"/>
                        </a:rPr>
                        <m:t>𝑑</m:t>
                      </m:r>
                    </m:oMath>
                  </m:oMathPara>
                </a14:m>
                <a:endParaRPr/>
              </a:p>
              <a:p>
                <a:endParaRPr lang="en-IN" dirty="0"/>
              </a:p>
            </p:txBody>
          </p:sp>
        </mc:Choice>
        <mc:Fallback xmlns="">
          <p:sp>
            <p:nvSpPr>
              <p:cNvPr id="7" name="TextBox 6">
                <a:extLst>
                  <a:ext uri="{FF2B5EF4-FFF2-40B4-BE49-F238E27FC236}">
                    <a16:creationId xmlns:a16="http://schemas.microsoft.com/office/drawing/2014/main" id="{A478B9B6-1783-DE66-D94B-6AAAB5323C9C}"/>
                  </a:ext>
                </a:extLst>
              </p:cNvPr>
              <p:cNvSpPr txBox="1">
                <a:spLocks noRot="1" noChangeAspect="1" noMove="1" noResize="1" noEditPoints="1" noAdjustHandles="1" noChangeArrowheads="1" noChangeShapeType="1" noTextEdit="1"/>
              </p:cNvSpPr>
              <p:nvPr/>
            </p:nvSpPr>
            <p:spPr>
              <a:xfrm>
                <a:off x="3844056" y="3269382"/>
                <a:ext cx="4100418" cy="795602"/>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6315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86D1E-1E6B-9CF5-93CE-61B0A43C67BD}"/>
              </a:ext>
            </a:extLst>
          </p:cNvPr>
          <p:cNvSpPr>
            <a:spLocks noGrp="1"/>
          </p:cNvSpPr>
          <p:nvPr>
            <p:ph type="title"/>
          </p:nvPr>
        </p:nvSpPr>
        <p:spPr/>
        <p:txBody>
          <a:bodyPr/>
          <a:lstStyle/>
          <a:p>
            <a:r>
              <a:rPr lang="en-IN" dirty="0"/>
              <a:t>ADMM Update Equations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243212-C826-5BB3-3FAA-5525B1268C35}"/>
                  </a:ext>
                </a:extLst>
              </p:cNvPr>
              <p:cNvSpPr>
                <a:spLocks noGrp="1"/>
              </p:cNvSpPr>
              <p:nvPr>
                <p:ph idx="1"/>
              </p:nvPr>
            </p:nvSpPr>
            <p:spPr>
              <a:xfrm>
                <a:off x="1066800" y="2014194"/>
                <a:ext cx="10058400" cy="4434732"/>
              </a:xfrm>
            </p:spPr>
            <p:txBody>
              <a:bodyPr>
                <a:normAutofit/>
              </a:bodyPr>
              <a:lstStyle/>
              <a:p>
                <a:r>
                  <a:rPr lang="en-IN" dirty="0"/>
                  <a:t>Update equation for beta</a:t>
                </a:r>
              </a:p>
              <a:p>
                <a:pPr marL="0" indent="0" algn="ctr">
                  <a:buNone/>
                </a:pPr>
                <a14:m>
                  <m:oMathPara xmlns:m="http://schemas.openxmlformats.org/officeDocument/2006/math">
                    <m:oMathParaPr>
                      <m:jc m:val="center"/>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ℒ</m:t>
                          </m:r>
                        </m:e>
                        <m:sub>
                          <m:r>
                            <a:rPr lang="en-IN" i="1">
                              <a:latin typeface="Cambria Math" panose="02040503050406030204" pitchFamily="18" charset="0"/>
                            </a:rPr>
                            <m:t>𝜌</m:t>
                          </m:r>
                        </m:sub>
                      </m:sSub>
                      <m:d>
                        <m:dPr>
                          <m:ctrlPr>
                            <a:rPr lang="en-IN" i="1">
                              <a:latin typeface="Cambria Math" panose="02040503050406030204" pitchFamily="18" charset="0"/>
                            </a:rPr>
                          </m:ctrlPr>
                        </m:dPr>
                        <m:e>
                          <m:r>
                            <a:rPr lang="en-IN" i="1">
                              <a:latin typeface="Cambria Math" panose="02040503050406030204" pitchFamily="18" charset="0"/>
                            </a:rPr>
                            <m:t>𝛽</m:t>
                          </m:r>
                        </m:e>
                      </m:d>
                      <m:r>
                        <m:rPr>
                          <m:aln/>
                        </m:rP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2</m:t>
                          </m:r>
                        </m:den>
                      </m:f>
                      <m:r>
                        <m:rPr>
                          <m:lit/>
                        </m:rPr>
                        <a:rPr lang="en-IN" i="1">
                          <a:latin typeface="Cambria Math" panose="02040503050406030204" pitchFamily="18" charset="0"/>
                        </a:rPr>
                        <m:t>|</m:t>
                      </m:r>
                      <m:r>
                        <a:rPr lang="en-IN" i="1">
                          <a:latin typeface="Cambria Math" panose="02040503050406030204" pitchFamily="18" charset="0"/>
                        </a:rPr>
                        <m:t>𝑌</m:t>
                      </m:r>
                      <m:r>
                        <a:rPr lang="en-IN" i="1">
                          <a:latin typeface="Cambria Math" panose="02040503050406030204" pitchFamily="18" charset="0"/>
                        </a:rPr>
                        <m:t>−</m:t>
                      </m:r>
                      <m:r>
                        <a:rPr lang="en-IN" i="1">
                          <a:latin typeface="Cambria Math" panose="02040503050406030204" pitchFamily="18" charset="0"/>
                        </a:rPr>
                        <m:t>𝑋</m:t>
                      </m:r>
                      <m:r>
                        <a:rPr lang="en-IN" i="1">
                          <a:latin typeface="Cambria Math" panose="02040503050406030204" pitchFamily="18" charset="0"/>
                        </a:rPr>
                        <m:t>𝛽</m:t>
                      </m:r>
                      <m:r>
                        <a:rPr lang="en-IN" i="1">
                          <a:latin typeface="Cambria Math" panose="02040503050406030204" pitchFamily="18" charset="0"/>
                        </a:rPr>
                        <m:t>−</m:t>
                      </m:r>
                      <m:r>
                        <a:rPr lang="en-IN" i="1">
                          <a:latin typeface="Cambria Math" panose="02040503050406030204" pitchFamily="18" charset="0"/>
                        </a:rPr>
                        <m:t>𝐵</m:t>
                      </m:r>
                      <m:sSup>
                        <m:sSupPr>
                          <m:ctrlPr>
                            <a:rPr lang="en-IN" i="1">
                              <a:latin typeface="Cambria Math" panose="02040503050406030204" pitchFamily="18" charset="0"/>
                            </a:rPr>
                          </m:ctrlPr>
                        </m:sSupPr>
                        <m:e>
                          <m:r>
                            <a:rPr lang="en-IN" i="1">
                              <a:latin typeface="Cambria Math" panose="02040503050406030204" pitchFamily="18" charset="0"/>
                            </a:rPr>
                            <m:t>𝛾</m:t>
                          </m:r>
                        </m:e>
                        <m:sup>
                          <m:r>
                            <a:rPr lang="en-IN" i="1">
                              <a:latin typeface="Cambria Math" panose="02040503050406030204" pitchFamily="18" charset="0"/>
                            </a:rPr>
                            <m:t>𝑛</m:t>
                          </m:r>
                          <m:r>
                            <a:rPr lang="en-IN" i="1">
                              <a:latin typeface="Cambria Math" panose="02040503050406030204" pitchFamily="18" charset="0"/>
                            </a:rPr>
                            <m:t>+1</m:t>
                          </m:r>
                        </m:sup>
                      </m:sSup>
                      <m:sSup>
                        <m:sSupPr>
                          <m:ctrlPr>
                            <a:rPr lang="en-IN" i="1">
                              <a:latin typeface="Cambria Math" panose="02040503050406030204" pitchFamily="18" charset="0"/>
                            </a:rPr>
                          </m:ctrlPr>
                        </m:sSupPr>
                        <m:e>
                          <m:r>
                            <m:rPr>
                              <m:lit/>
                            </m:rPr>
                            <a:rPr lang="en-IN" i="1">
                              <a:latin typeface="Cambria Math" panose="02040503050406030204" pitchFamily="18" charset="0"/>
                            </a:rPr>
                            <m:t>|</m:t>
                          </m:r>
                        </m:e>
                        <m:sup>
                          <m:r>
                            <a:rPr lang="en-IN" i="1">
                              <a:latin typeface="Cambria Math" panose="02040503050406030204" pitchFamily="18" charset="0"/>
                            </a:rPr>
                            <m:t>2</m:t>
                          </m:r>
                        </m:sup>
                      </m:sSup>
                      <m:r>
                        <a:rPr lang="en-IN" i="1">
                          <a:latin typeface="Cambria Math" panose="02040503050406030204" pitchFamily="18" charset="0"/>
                        </a:rPr>
                        <m:t>+</m:t>
                      </m:r>
                      <m:d>
                        <m:dPr>
                          <m:begChr m:val="⟨"/>
                          <m:endChr m:val="⟩"/>
                          <m:ctrlPr>
                            <a:rPr lang="en-IN" i="1">
                              <a:latin typeface="Cambria Math" panose="02040503050406030204" pitchFamily="18" charset="0"/>
                            </a:rPr>
                          </m:ctrlPr>
                        </m:dPr>
                        <m:e>
                          <m:sSup>
                            <m:sSupPr>
                              <m:ctrlPr>
                                <a:rPr lang="en-IN" i="1">
                                  <a:latin typeface="Cambria Math" panose="02040503050406030204" pitchFamily="18" charset="0"/>
                                </a:rPr>
                              </m:ctrlPr>
                            </m:sSupPr>
                            <m:e>
                              <m:r>
                                <a:rPr lang="en-IN" i="1">
                                  <a:latin typeface="Cambria Math" panose="02040503050406030204" pitchFamily="18" charset="0"/>
                                </a:rPr>
                                <m:t>𝜆</m:t>
                              </m:r>
                            </m:e>
                            <m:sup>
                              <m:r>
                                <a:rPr lang="en-IN" i="1">
                                  <a:latin typeface="Cambria Math" panose="02040503050406030204" pitchFamily="18" charset="0"/>
                                </a:rPr>
                                <m:t>𝑛</m:t>
                              </m:r>
                            </m:sup>
                          </m:sSup>
                          <m:r>
                            <a:rPr lang="en-IN" i="1">
                              <a:latin typeface="Cambria Math" panose="02040503050406030204" pitchFamily="18" charset="0"/>
                            </a:rPr>
                            <m:t>,</m:t>
                          </m:r>
                          <m:r>
                            <a:rPr lang="en-IN" i="1">
                              <a:latin typeface="Cambria Math" panose="02040503050406030204" pitchFamily="18" charset="0"/>
                            </a:rPr>
                            <m:t>𝑅</m:t>
                          </m:r>
                          <m:r>
                            <a:rPr lang="en-IN" i="1">
                              <a:latin typeface="Cambria Math" panose="02040503050406030204" pitchFamily="18" charset="0"/>
                            </a:rPr>
                            <m:t>𝛽</m:t>
                          </m:r>
                          <m:r>
                            <a:rPr lang="en-IN" i="1">
                              <a:latin typeface="Cambria Math" panose="02040503050406030204" pitchFamily="18" charset="0"/>
                            </a:rPr>
                            <m:t>−</m:t>
                          </m:r>
                          <m:r>
                            <a:rPr lang="en-IN" i="1">
                              <a:latin typeface="Cambria Math" panose="02040503050406030204" pitchFamily="18" charset="0"/>
                            </a:rPr>
                            <m:t>𝑑</m:t>
                          </m:r>
                        </m:e>
                      </m:d>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𝜌</m:t>
                          </m:r>
                        </m:num>
                        <m:den>
                          <m:r>
                            <a:rPr lang="en-IN" i="1">
                              <a:latin typeface="Cambria Math" panose="02040503050406030204" pitchFamily="18" charset="0"/>
                            </a:rPr>
                            <m:t>2</m:t>
                          </m:r>
                        </m:den>
                      </m:f>
                      <m:r>
                        <m:rPr>
                          <m:lit/>
                        </m:rPr>
                        <a:rPr lang="en-IN" i="1">
                          <a:latin typeface="Cambria Math" panose="02040503050406030204" pitchFamily="18" charset="0"/>
                        </a:rPr>
                        <m:t>|</m:t>
                      </m:r>
                      <m:r>
                        <a:rPr lang="en-IN" i="1">
                          <a:latin typeface="Cambria Math" panose="02040503050406030204" pitchFamily="18" charset="0"/>
                        </a:rPr>
                        <m:t>𝑅</m:t>
                      </m:r>
                      <m:r>
                        <a:rPr lang="en-IN" i="1">
                          <a:latin typeface="Cambria Math" panose="02040503050406030204" pitchFamily="18" charset="0"/>
                        </a:rPr>
                        <m:t>𝛽</m:t>
                      </m:r>
                      <m:r>
                        <a:rPr lang="en-IN" i="1">
                          <a:latin typeface="Cambria Math" panose="02040503050406030204" pitchFamily="18" charset="0"/>
                        </a:rPr>
                        <m:t>−</m:t>
                      </m:r>
                      <m:r>
                        <a:rPr lang="en-IN" i="1">
                          <a:latin typeface="Cambria Math" panose="02040503050406030204" pitchFamily="18" charset="0"/>
                        </a:rPr>
                        <m:t>𝑑</m:t>
                      </m:r>
                      <m:sSup>
                        <m:sSupPr>
                          <m:ctrlPr>
                            <a:rPr lang="en-IN" i="1">
                              <a:latin typeface="Cambria Math" panose="02040503050406030204" pitchFamily="18" charset="0"/>
                            </a:rPr>
                          </m:ctrlPr>
                        </m:sSupPr>
                        <m:e>
                          <m:r>
                            <m:rPr>
                              <m:lit/>
                            </m:rPr>
                            <a:rPr lang="en-IN" i="1">
                              <a:latin typeface="Cambria Math" panose="02040503050406030204" pitchFamily="18" charset="0"/>
                            </a:rPr>
                            <m:t>|</m:t>
                          </m:r>
                        </m:e>
                        <m:sup>
                          <m:r>
                            <a:rPr lang="en-IN" i="1">
                              <a:latin typeface="Cambria Math" panose="02040503050406030204" pitchFamily="18" charset="0"/>
                            </a:rPr>
                            <m:t>2</m:t>
                          </m:r>
                        </m:sup>
                      </m:sSup>
                    </m:oMath>
                  </m:oMathPara>
                </a14:m>
                <a:endParaRPr lang="en-IN" dirty="0"/>
              </a:p>
              <a:p>
                <a:pPr algn="ctr"/>
                <a:endParaRPr lang="en-IN" dirty="0"/>
              </a:p>
              <a:p>
                <a:pPr marL="0" indent="0" algn="ctr">
                  <a:buNone/>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m:rPr>
                              <m:sty m:val="p"/>
                            </m:rPr>
                            <a:rPr lang="en-IN" i="0">
                              <a:latin typeface="Cambria Math" panose="02040503050406030204" pitchFamily="18" charset="0"/>
                            </a:rPr>
                            <m:t>∇</m:t>
                          </m:r>
                        </m:e>
                        <m:sub>
                          <m:r>
                            <a:rPr lang="en-IN" i="1">
                              <a:latin typeface="Cambria Math" panose="02040503050406030204" pitchFamily="18" charset="0"/>
                            </a:rPr>
                            <m:t>𝛽</m:t>
                          </m:r>
                          <m:sSub>
                            <m:sSubPr>
                              <m:ctrlPr>
                                <a:rPr lang="en-IN" i="1">
                                  <a:latin typeface="Cambria Math" panose="02040503050406030204" pitchFamily="18" charset="0"/>
                                </a:rPr>
                              </m:ctrlPr>
                            </m:sSubPr>
                            <m:e>
                              <m:r>
                                <a:rPr lang="en-IN" i="1">
                                  <a:latin typeface="Cambria Math" panose="02040503050406030204" pitchFamily="18" charset="0"/>
                                </a:rPr>
                                <m:t>ℒ</m:t>
                              </m:r>
                            </m:e>
                            <m:sub>
                              <m:r>
                                <a:rPr lang="en-IN" i="1">
                                  <a:latin typeface="Cambria Math" panose="02040503050406030204" pitchFamily="18" charset="0"/>
                                </a:rPr>
                                <m:t>𝜌</m:t>
                              </m:r>
                            </m:sub>
                          </m:sSub>
                        </m:sub>
                      </m:sSub>
                      <m:r>
                        <m:rPr>
                          <m:aln/>
                        </m:rPr>
                        <a:rPr lang="en-IN" i="1">
                          <a:latin typeface="Cambria Math" panose="02040503050406030204" pitchFamily="18" charset="0"/>
                        </a:rPr>
                        <m:t>=</m:t>
                      </m:r>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𝑋</m:t>
                          </m:r>
                        </m:e>
                        <m:sup>
                          <m:r>
                            <a:rPr lang="en-IN" i="1">
                              <a:latin typeface="Cambria Math" panose="02040503050406030204" pitchFamily="18" charset="0"/>
                            </a:rPr>
                            <m:t>⊤</m:t>
                          </m:r>
                        </m:sup>
                      </m:sSup>
                      <m:d>
                        <m:dPr>
                          <m:ctrlPr>
                            <a:rPr lang="en-IN" i="1">
                              <a:latin typeface="Cambria Math" panose="02040503050406030204" pitchFamily="18" charset="0"/>
                            </a:rPr>
                          </m:ctrlPr>
                        </m:dPr>
                        <m:e>
                          <m:r>
                            <a:rPr lang="en-IN" i="1">
                              <a:latin typeface="Cambria Math" panose="02040503050406030204" pitchFamily="18" charset="0"/>
                            </a:rPr>
                            <m:t>𝑌</m:t>
                          </m:r>
                          <m:r>
                            <a:rPr lang="en-IN" i="1">
                              <a:latin typeface="Cambria Math" panose="02040503050406030204" pitchFamily="18" charset="0"/>
                            </a:rPr>
                            <m:t>−</m:t>
                          </m:r>
                          <m:r>
                            <a:rPr lang="en-IN" i="1">
                              <a:latin typeface="Cambria Math" panose="02040503050406030204" pitchFamily="18" charset="0"/>
                            </a:rPr>
                            <m:t>𝑋</m:t>
                          </m:r>
                          <m:r>
                            <a:rPr lang="en-IN" i="1">
                              <a:latin typeface="Cambria Math" panose="02040503050406030204" pitchFamily="18" charset="0"/>
                            </a:rPr>
                            <m:t>𝛽</m:t>
                          </m:r>
                          <m:r>
                            <a:rPr lang="en-IN" i="1">
                              <a:latin typeface="Cambria Math" panose="02040503050406030204" pitchFamily="18" charset="0"/>
                            </a:rPr>
                            <m:t>−</m:t>
                          </m:r>
                          <m:r>
                            <a:rPr lang="en-IN" i="1">
                              <a:latin typeface="Cambria Math" panose="02040503050406030204" pitchFamily="18" charset="0"/>
                            </a:rPr>
                            <m:t>𝐵</m:t>
                          </m:r>
                          <m:sSup>
                            <m:sSupPr>
                              <m:ctrlPr>
                                <a:rPr lang="en-IN" i="1">
                                  <a:latin typeface="Cambria Math" panose="02040503050406030204" pitchFamily="18" charset="0"/>
                                </a:rPr>
                              </m:ctrlPr>
                            </m:sSupPr>
                            <m:e>
                              <m:r>
                                <a:rPr lang="en-IN" i="1">
                                  <a:latin typeface="Cambria Math" panose="02040503050406030204" pitchFamily="18" charset="0"/>
                                </a:rPr>
                                <m:t>𝛾</m:t>
                              </m:r>
                            </m:e>
                            <m:sup>
                              <m:r>
                                <a:rPr lang="en-IN" i="1">
                                  <a:latin typeface="Cambria Math" panose="02040503050406030204" pitchFamily="18" charset="0"/>
                                </a:rPr>
                                <m:t>𝑛</m:t>
                              </m:r>
                              <m:r>
                                <a:rPr lang="en-IN" i="1">
                                  <a:latin typeface="Cambria Math" panose="02040503050406030204" pitchFamily="18" charset="0"/>
                                </a:rPr>
                                <m:t>+1</m:t>
                              </m:r>
                            </m:sup>
                          </m:sSup>
                        </m:e>
                      </m:d>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i="1">
                              <a:latin typeface="Cambria Math" panose="02040503050406030204" pitchFamily="18" charset="0"/>
                            </a:rPr>
                            <m:t>⊤</m:t>
                          </m:r>
                        </m:sup>
                      </m:sSup>
                      <m:sSup>
                        <m:sSupPr>
                          <m:ctrlPr>
                            <a:rPr lang="en-IN" i="1">
                              <a:latin typeface="Cambria Math" panose="02040503050406030204" pitchFamily="18" charset="0"/>
                            </a:rPr>
                          </m:ctrlPr>
                        </m:sSupPr>
                        <m:e>
                          <m:r>
                            <a:rPr lang="en-IN" i="1">
                              <a:latin typeface="Cambria Math" panose="02040503050406030204" pitchFamily="18" charset="0"/>
                            </a:rPr>
                            <m:t>𝜆</m:t>
                          </m:r>
                        </m:e>
                        <m:sup>
                          <m:r>
                            <a:rPr lang="en-IN" i="1">
                              <a:latin typeface="Cambria Math" panose="02040503050406030204" pitchFamily="18" charset="0"/>
                            </a:rPr>
                            <m:t>𝑛</m:t>
                          </m:r>
                        </m:sup>
                      </m:sSup>
                      <m:r>
                        <a:rPr lang="en-IN" i="1">
                          <a:latin typeface="Cambria Math" panose="02040503050406030204" pitchFamily="18" charset="0"/>
                        </a:rPr>
                        <m:t>+</m:t>
                      </m:r>
                      <m:r>
                        <a:rPr lang="en-IN" i="1">
                          <a:latin typeface="Cambria Math" panose="02040503050406030204" pitchFamily="18" charset="0"/>
                        </a:rPr>
                        <m:t>𝜌</m:t>
                      </m:r>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i="1">
                              <a:latin typeface="Cambria Math" panose="02040503050406030204" pitchFamily="18" charset="0"/>
                            </a:rPr>
                            <m:t>⊤</m:t>
                          </m:r>
                        </m:sup>
                      </m:sSup>
                      <m:d>
                        <m:dPr>
                          <m:ctrlPr>
                            <a:rPr lang="en-IN" i="1">
                              <a:latin typeface="Cambria Math" panose="02040503050406030204" pitchFamily="18" charset="0"/>
                            </a:rPr>
                          </m:ctrlPr>
                        </m:dPr>
                        <m:e>
                          <m:r>
                            <a:rPr lang="en-IN" i="1">
                              <a:latin typeface="Cambria Math" panose="02040503050406030204" pitchFamily="18" charset="0"/>
                            </a:rPr>
                            <m:t>𝑅</m:t>
                          </m:r>
                          <m:r>
                            <a:rPr lang="en-IN" i="1">
                              <a:latin typeface="Cambria Math" panose="02040503050406030204" pitchFamily="18" charset="0"/>
                            </a:rPr>
                            <m:t>𝛽</m:t>
                          </m:r>
                          <m:r>
                            <a:rPr lang="en-IN" i="1">
                              <a:latin typeface="Cambria Math" panose="02040503050406030204" pitchFamily="18" charset="0"/>
                            </a:rPr>
                            <m:t>−</m:t>
                          </m:r>
                          <m:r>
                            <a:rPr lang="en-IN" i="1">
                              <a:latin typeface="Cambria Math" panose="02040503050406030204" pitchFamily="18" charset="0"/>
                            </a:rPr>
                            <m:t>𝑑</m:t>
                          </m:r>
                        </m:e>
                      </m:d>
                    </m:oMath>
                  </m:oMathPara>
                </a14:m>
                <a:endParaRPr lang="en-IN" dirty="0"/>
              </a:p>
              <a:p>
                <a:pPr algn="ctr"/>
                <a:endParaRPr lang="en-IN" dirty="0"/>
              </a:p>
              <a:p>
                <a:pPr marL="0" indent="0">
                  <a:buNone/>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m:rPr>
                              <m:sty m:val="p"/>
                            </m:rPr>
                            <a:rPr lang="en-IN" i="0">
                              <a:latin typeface="Cambria Math" panose="02040503050406030204" pitchFamily="18" charset="0"/>
                            </a:rPr>
                            <m:t>∇</m:t>
                          </m:r>
                        </m:e>
                        <m:sub>
                          <m:r>
                            <a:rPr lang="en-IN" i="1">
                              <a:latin typeface="Cambria Math" panose="02040503050406030204" pitchFamily="18" charset="0"/>
                            </a:rPr>
                            <m:t>𝛽</m:t>
                          </m:r>
                          <m:sSub>
                            <m:sSubPr>
                              <m:ctrlPr>
                                <a:rPr lang="en-IN" i="1">
                                  <a:latin typeface="Cambria Math" panose="02040503050406030204" pitchFamily="18" charset="0"/>
                                </a:rPr>
                              </m:ctrlPr>
                            </m:sSubPr>
                            <m:e>
                              <m:r>
                                <a:rPr lang="en-IN" i="1">
                                  <a:latin typeface="Cambria Math" panose="02040503050406030204" pitchFamily="18" charset="0"/>
                                </a:rPr>
                                <m:t>ℒ</m:t>
                              </m:r>
                            </m:e>
                            <m:sub>
                              <m:r>
                                <a:rPr lang="en-IN" i="1">
                                  <a:latin typeface="Cambria Math" panose="02040503050406030204" pitchFamily="18" charset="0"/>
                                </a:rPr>
                                <m:t>𝜌</m:t>
                              </m:r>
                            </m:sub>
                          </m:sSub>
                        </m:sub>
                      </m:sSub>
                      <m:r>
                        <a:rPr lang="en-IN" i="1">
                          <a:latin typeface="Cambria Math" panose="02040503050406030204" pitchFamily="18" charset="0"/>
                        </a:rPr>
                        <m:t>=0  ⇒  </m:t>
                      </m:r>
                      <m:d>
                        <m:dPr>
                          <m:ctrlPr>
                            <a:rPr lang="en-IN" i="1">
                              <a:latin typeface="Cambria Math" panose="02040503050406030204" pitchFamily="18" charset="0"/>
                            </a:rPr>
                          </m:ctrlPr>
                        </m:dPr>
                        <m:e>
                          <m:sSup>
                            <m:sSupPr>
                              <m:ctrlPr>
                                <a:rPr lang="en-IN" i="1">
                                  <a:latin typeface="Cambria Math" panose="02040503050406030204" pitchFamily="18" charset="0"/>
                                </a:rPr>
                              </m:ctrlPr>
                            </m:sSupPr>
                            <m:e>
                              <m:r>
                                <a:rPr lang="en-IN" i="1">
                                  <a:latin typeface="Cambria Math" panose="02040503050406030204" pitchFamily="18" charset="0"/>
                                </a:rPr>
                                <m:t>𝑋</m:t>
                              </m:r>
                            </m:e>
                            <m:sup>
                              <m:r>
                                <a:rPr lang="en-IN" i="1">
                                  <a:latin typeface="Cambria Math" panose="02040503050406030204" pitchFamily="18" charset="0"/>
                                </a:rPr>
                                <m:t>⊤</m:t>
                              </m:r>
                            </m:sup>
                          </m:sSup>
                          <m:r>
                            <a:rPr lang="en-IN" i="1">
                              <a:latin typeface="Cambria Math" panose="02040503050406030204" pitchFamily="18" charset="0"/>
                            </a:rPr>
                            <m:t>𝑋</m:t>
                          </m:r>
                          <m:r>
                            <a:rPr lang="en-IN" i="1">
                              <a:latin typeface="Cambria Math" panose="02040503050406030204" pitchFamily="18" charset="0"/>
                            </a:rPr>
                            <m:t>+</m:t>
                          </m:r>
                          <m:r>
                            <a:rPr lang="en-IN" i="1">
                              <a:latin typeface="Cambria Math" panose="02040503050406030204" pitchFamily="18" charset="0"/>
                            </a:rPr>
                            <m:t>𝜌</m:t>
                          </m:r>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i="1">
                                  <a:latin typeface="Cambria Math" panose="02040503050406030204" pitchFamily="18" charset="0"/>
                                </a:rPr>
                                <m:t>⊤</m:t>
                              </m:r>
                            </m:sup>
                          </m:sSup>
                          <m:r>
                            <a:rPr lang="en-IN" i="1">
                              <a:latin typeface="Cambria Math" panose="02040503050406030204" pitchFamily="18" charset="0"/>
                            </a:rPr>
                            <m:t>𝑅</m:t>
                          </m:r>
                        </m:e>
                      </m:d>
                      <m:r>
                        <a:rPr lang="en-IN" i="1">
                          <a:latin typeface="Cambria Math" panose="02040503050406030204" pitchFamily="18" charset="0"/>
                        </a:rPr>
                        <m:t>𝛽</m:t>
                      </m:r>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𝑋</m:t>
                          </m:r>
                        </m:e>
                        <m:sup>
                          <m:r>
                            <a:rPr lang="en-IN" i="1">
                              <a:latin typeface="Cambria Math" panose="02040503050406030204" pitchFamily="18" charset="0"/>
                            </a:rPr>
                            <m:t>⊤</m:t>
                          </m:r>
                        </m:sup>
                      </m:sSup>
                      <m:d>
                        <m:dPr>
                          <m:ctrlPr>
                            <a:rPr lang="en-IN" i="1">
                              <a:latin typeface="Cambria Math" panose="02040503050406030204" pitchFamily="18" charset="0"/>
                            </a:rPr>
                          </m:ctrlPr>
                        </m:dPr>
                        <m:e>
                          <m:r>
                            <a:rPr lang="en-IN" i="1">
                              <a:latin typeface="Cambria Math" panose="02040503050406030204" pitchFamily="18" charset="0"/>
                            </a:rPr>
                            <m:t>𝑌</m:t>
                          </m:r>
                          <m:r>
                            <a:rPr lang="en-IN" i="1">
                              <a:latin typeface="Cambria Math" panose="02040503050406030204" pitchFamily="18" charset="0"/>
                            </a:rPr>
                            <m:t>−</m:t>
                          </m:r>
                          <m:r>
                            <a:rPr lang="en-IN" i="1">
                              <a:latin typeface="Cambria Math" panose="02040503050406030204" pitchFamily="18" charset="0"/>
                            </a:rPr>
                            <m:t>𝐵</m:t>
                          </m:r>
                          <m:sSup>
                            <m:sSupPr>
                              <m:ctrlPr>
                                <a:rPr lang="en-IN" i="1">
                                  <a:latin typeface="Cambria Math" panose="02040503050406030204" pitchFamily="18" charset="0"/>
                                </a:rPr>
                              </m:ctrlPr>
                            </m:sSupPr>
                            <m:e>
                              <m:r>
                                <a:rPr lang="en-IN" i="1">
                                  <a:latin typeface="Cambria Math" panose="02040503050406030204" pitchFamily="18" charset="0"/>
                                </a:rPr>
                                <m:t>𝛾</m:t>
                              </m:r>
                            </m:e>
                            <m:sup>
                              <m:r>
                                <a:rPr lang="en-IN" i="1">
                                  <a:latin typeface="Cambria Math" panose="02040503050406030204" pitchFamily="18" charset="0"/>
                                </a:rPr>
                                <m:t> </m:t>
                              </m:r>
                              <m:r>
                                <a:rPr lang="en-IN" i="1">
                                  <a:latin typeface="Cambria Math" panose="02040503050406030204" pitchFamily="18" charset="0"/>
                                </a:rPr>
                                <m:t>𝑛</m:t>
                              </m:r>
                              <m:r>
                                <a:rPr lang="en-IN" i="1">
                                  <a:latin typeface="Cambria Math" panose="02040503050406030204" pitchFamily="18" charset="0"/>
                                </a:rPr>
                                <m:t>+1</m:t>
                              </m:r>
                            </m:sup>
                          </m:sSup>
                        </m:e>
                      </m:d>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i="1">
                              <a:latin typeface="Cambria Math" panose="02040503050406030204" pitchFamily="18" charset="0"/>
                            </a:rPr>
                            <m:t>⊤</m:t>
                          </m:r>
                        </m:sup>
                      </m:sSup>
                      <m:d>
                        <m:dPr>
                          <m:ctrlPr>
                            <a:rPr lang="en-IN" i="1">
                              <a:latin typeface="Cambria Math" panose="02040503050406030204" pitchFamily="18" charset="0"/>
                            </a:rPr>
                          </m:ctrlPr>
                        </m:dPr>
                        <m:e>
                          <m:r>
                            <a:rPr lang="en-IN" i="1">
                              <a:latin typeface="Cambria Math" panose="02040503050406030204" pitchFamily="18" charset="0"/>
                            </a:rPr>
                            <m:t>𝜌</m:t>
                          </m:r>
                          <m:r>
                            <a:rPr lang="en-IN" i="1">
                              <a:latin typeface="Cambria Math" panose="02040503050406030204" pitchFamily="18" charset="0"/>
                            </a:rPr>
                            <m:t>𝑑</m:t>
                          </m:r>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𝜆</m:t>
                              </m:r>
                            </m:e>
                            <m:sup>
                              <m:r>
                                <a:rPr lang="en-IN" i="1">
                                  <a:latin typeface="Cambria Math" panose="02040503050406030204" pitchFamily="18" charset="0"/>
                                </a:rPr>
                                <m:t>𝑛</m:t>
                              </m:r>
                            </m:sup>
                          </m:sSup>
                        </m:e>
                      </m:d>
                    </m:oMath>
                  </m:oMathPara>
                </a14:m>
                <a:endParaRPr lang="en-IN" dirty="0"/>
              </a:p>
              <a:p>
                <a:pPr marL="0" indent="0">
                  <a:buNone/>
                </a:pPr>
                <a:endParaRPr lang="en-IN" dirty="0"/>
              </a:p>
              <a:p>
                <a:pPr marL="0" indent="0">
                  <a:buNone/>
                </a:pPr>
                <a14:m>
                  <m:oMathPara xmlns:m="http://schemas.openxmlformats.org/officeDocument/2006/math">
                    <m:oMathParaPr>
                      <m:jc m:val="center"/>
                    </m:oMathParaPr>
                    <m:oMath xmlns:m="http://schemas.openxmlformats.org/officeDocument/2006/math">
                      <m:sSup>
                        <m:sSupPr>
                          <m:ctrlPr>
                            <a:rPr lang="en-IN" i="1" smtClean="0">
                              <a:latin typeface="Cambria Math" panose="02040503050406030204" pitchFamily="18" charset="0"/>
                            </a:rPr>
                          </m:ctrlPr>
                        </m:sSupPr>
                        <m:e>
                          <m:r>
                            <a:rPr lang="en-IN" i="1">
                              <a:latin typeface="Cambria Math" panose="02040503050406030204" pitchFamily="18" charset="0"/>
                            </a:rPr>
                            <m:t>𝛽</m:t>
                          </m:r>
                        </m:e>
                        <m:sup>
                          <m:r>
                            <a:rPr lang="en-IN" i="1">
                              <a:latin typeface="Cambria Math" panose="02040503050406030204" pitchFamily="18" charset="0"/>
                            </a:rPr>
                            <m:t> </m:t>
                          </m:r>
                          <m:r>
                            <a:rPr lang="en-IN" i="1">
                              <a:latin typeface="Cambria Math" panose="02040503050406030204" pitchFamily="18" charset="0"/>
                            </a:rPr>
                            <m:t>𝑛</m:t>
                          </m:r>
                          <m:r>
                            <a:rPr lang="en-IN" i="1">
                              <a:latin typeface="Cambria Math" panose="02040503050406030204" pitchFamily="18" charset="0"/>
                            </a:rPr>
                            <m:t>+1</m:t>
                          </m:r>
                        </m:sup>
                      </m:sSup>
                      <m:r>
                        <m:rPr>
                          <m:aln/>
                        </m:rPr>
                        <a:rPr lang="en-IN" i="1">
                          <a:latin typeface="Cambria Math" panose="02040503050406030204" pitchFamily="18" charset="0"/>
                        </a:rPr>
                        <m:t>=</m:t>
                      </m:r>
                      <m:sSup>
                        <m:sSupPr>
                          <m:ctrlPr>
                            <a:rPr lang="en-IN" i="1">
                              <a:latin typeface="Cambria Math" panose="02040503050406030204" pitchFamily="18" charset="0"/>
                            </a:rPr>
                          </m:ctrlPr>
                        </m:sSupPr>
                        <m:e>
                          <m:d>
                            <m:dPr>
                              <m:ctrlPr>
                                <a:rPr lang="en-IN" i="1">
                                  <a:latin typeface="Cambria Math" panose="02040503050406030204" pitchFamily="18" charset="0"/>
                                </a:rPr>
                              </m:ctrlPr>
                            </m:dPr>
                            <m:e>
                              <m:sSup>
                                <m:sSupPr>
                                  <m:ctrlPr>
                                    <a:rPr lang="en-IN" i="1">
                                      <a:latin typeface="Cambria Math" panose="02040503050406030204" pitchFamily="18" charset="0"/>
                                    </a:rPr>
                                  </m:ctrlPr>
                                </m:sSupPr>
                                <m:e>
                                  <m:r>
                                    <a:rPr lang="en-IN" i="1">
                                      <a:latin typeface="Cambria Math" panose="02040503050406030204" pitchFamily="18" charset="0"/>
                                    </a:rPr>
                                    <m:t>𝑋</m:t>
                                  </m:r>
                                </m:e>
                                <m:sup>
                                  <m:r>
                                    <a:rPr lang="en-IN" i="1">
                                      <a:latin typeface="Cambria Math" panose="02040503050406030204" pitchFamily="18" charset="0"/>
                                    </a:rPr>
                                    <m:t>⊤</m:t>
                                  </m:r>
                                </m:sup>
                              </m:sSup>
                              <m:r>
                                <a:rPr lang="en-IN" i="1">
                                  <a:latin typeface="Cambria Math" panose="02040503050406030204" pitchFamily="18" charset="0"/>
                                </a:rPr>
                                <m:t>𝑋</m:t>
                              </m:r>
                              <m:r>
                                <a:rPr lang="en-IN" i="1">
                                  <a:latin typeface="Cambria Math" panose="02040503050406030204" pitchFamily="18" charset="0"/>
                                </a:rPr>
                                <m:t>+</m:t>
                              </m:r>
                              <m:r>
                                <a:rPr lang="en-IN" i="1">
                                  <a:latin typeface="Cambria Math" panose="02040503050406030204" pitchFamily="18" charset="0"/>
                                </a:rPr>
                                <m:t>𝜌</m:t>
                              </m:r>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i="1">
                                      <a:latin typeface="Cambria Math" panose="02040503050406030204" pitchFamily="18" charset="0"/>
                                    </a:rPr>
                                    <m:t>⊤</m:t>
                                  </m:r>
                                </m:sup>
                              </m:sSup>
                              <m:r>
                                <a:rPr lang="en-IN" i="1">
                                  <a:latin typeface="Cambria Math" panose="02040503050406030204" pitchFamily="18" charset="0"/>
                                </a:rPr>
                                <m:t>𝑅</m:t>
                              </m:r>
                            </m:e>
                          </m:d>
                        </m:e>
                        <m:sup>
                          <m:r>
                            <a:rPr lang="en-IN" i="1">
                              <a:latin typeface="Cambria Math" panose="02040503050406030204" pitchFamily="18" charset="0"/>
                            </a:rPr>
                            <m:t>−1</m:t>
                          </m:r>
                        </m:sup>
                      </m:sSup>
                      <m:d>
                        <m:dPr>
                          <m:begChr m:val="["/>
                          <m:endChr m:val="]"/>
                          <m:ctrlPr>
                            <a:rPr lang="en-IN" i="1">
                              <a:latin typeface="Cambria Math" panose="02040503050406030204" pitchFamily="18" charset="0"/>
                            </a:rPr>
                          </m:ctrlPr>
                        </m:dPr>
                        <m:e>
                          <m:sSup>
                            <m:sSupPr>
                              <m:ctrlPr>
                                <a:rPr lang="en-IN" i="1">
                                  <a:latin typeface="Cambria Math" panose="02040503050406030204" pitchFamily="18" charset="0"/>
                                </a:rPr>
                              </m:ctrlPr>
                            </m:sSupPr>
                            <m:e>
                              <m:r>
                                <a:rPr lang="en-IN" i="1">
                                  <a:latin typeface="Cambria Math" panose="02040503050406030204" pitchFamily="18" charset="0"/>
                                </a:rPr>
                                <m:t>𝑋</m:t>
                              </m:r>
                            </m:e>
                            <m:sup>
                              <m:r>
                                <a:rPr lang="en-IN" i="1">
                                  <a:latin typeface="Cambria Math" panose="02040503050406030204" pitchFamily="18" charset="0"/>
                                </a:rPr>
                                <m:t>⊤</m:t>
                              </m:r>
                            </m:sup>
                          </m:sSup>
                          <m:d>
                            <m:dPr>
                              <m:ctrlPr>
                                <a:rPr lang="en-IN" i="1">
                                  <a:latin typeface="Cambria Math" panose="02040503050406030204" pitchFamily="18" charset="0"/>
                                </a:rPr>
                              </m:ctrlPr>
                            </m:dPr>
                            <m:e>
                              <m:r>
                                <a:rPr lang="en-IN" i="1">
                                  <a:latin typeface="Cambria Math" panose="02040503050406030204" pitchFamily="18" charset="0"/>
                                </a:rPr>
                                <m:t>𝑌</m:t>
                              </m:r>
                              <m:r>
                                <a:rPr lang="en-IN" i="1">
                                  <a:latin typeface="Cambria Math" panose="02040503050406030204" pitchFamily="18" charset="0"/>
                                </a:rPr>
                                <m:t>−</m:t>
                              </m:r>
                              <m:r>
                                <a:rPr lang="en-IN" i="1">
                                  <a:latin typeface="Cambria Math" panose="02040503050406030204" pitchFamily="18" charset="0"/>
                                </a:rPr>
                                <m:t>𝐵</m:t>
                              </m:r>
                              <m:sSup>
                                <m:sSupPr>
                                  <m:ctrlPr>
                                    <a:rPr lang="en-IN" i="1">
                                      <a:latin typeface="Cambria Math" panose="02040503050406030204" pitchFamily="18" charset="0"/>
                                    </a:rPr>
                                  </m:ctrlPr>
                                </m:sSupPr>
                                <m:e>
                                  <m:r>
                                    <a:rPr lang="en-IN" i="1">
                                      <a:latin typeface="Cambria Math" panose="02040503050406030204" pitchFamily="18" charset="0"/>
                                    </a:rPr>
                                    <m:t>𝛾</m:t>
                                  </m:r>
                                </m:e>
                                <m:sup>
                                  <m:r>
                                    <a:rPr lang="en-IN" i="1">
                                      <a:latin typeface="Cambria Math" panose="02040503050406030204" pitchFamily="18" charset="0"/>
                                    </a:rPr>
                                    <m:t>𝑛</m:t>
                                  </m:r>
                                  <m:r>
                                    <a:rPr lang="en-IN" i="1">
                                      <a:latin typeface="Cambria Math" panose="02040503050406030204" pitchFamily="18" charset="0"/>
                                    </a:rPr>
                                    <m:t>+1</m:t>
                                  </m:r>
                                </m:sup>
                              </m:sSup>
                            </m:e>
                          </m:d>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i="1">
                                  <a:latin typeface="Cambria Math" panose="02040503050406030204" pitchFamily="18" charset="0"/>
                                </a:rPr>
                                <m:t>⊤</m:t>
                              </m:r>
                            </m:sup>
                          </m:sSup>
                          <m:d>
                            <m:dPr>
                              <m:ctrlPr>
                                <a:rPr lang="en-IN" i="1">
                                  <a:latin typeface="Cambria Math" panose="02040503050406030204" pitchFamily="18" charset="0"/>
                                </a:rPr>
                              </m:ctrlPr>
                            </m:dPr>
                            <m:e>
                              <m:r>
                                <a:rPr lang="en-IN" i="1">
                                  <a:latin typeface="Cambria Math" panose="02040503050406030204" pitchFamily="18" charset="0"/>
                                </a:rPr>
                                <m:t>𝜌</m:t>
                              </m:r>
                              <m:r>
                                <a:rPr lang="en-IN" i="1">
                                  <a:latin typeface="Cambria Math" panose="02040503050406030204" pitchFamily="18" charset="0"/>
                                </a:rPr>
                                <m:t>𝑑</m:t>
                              </m:r>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𝜆</m:t>
                                  </m:r>
                                </m:e>
                                <m:sup>
                                  <m:r>
                                    <a:rPr lang="en-IN" i="1">
                                      <a:latin typeface="Cambria Math" panose="02040503050406030204" pitchFamily="18" charset="0"/>
                                    </a:rPr>
                                    <m:t>𝑛</m:t>
                                  </m:r>
                                </m:sup>
                              </m:sSup>
                            </m:e>
                          </m:d>
                        </m:e>
                      </m:d>
                    </m:oMath>
                  </m:oMathPara>
                </a14:m>
                <a:endParaRPr lang="en-IN" dirty="0"/>
              </a:p>
              <a:p>
                <a:endParaRPr lang="en-IN" dirty="0"/>
              </a:p>
              <a:p>
                <a:r>
                  <a:rPr lang="en-IN" dirty="0"/>
                  <a:t>Update equation for gamma:</a:t>
                </a:r>
              </a:p>
              <a:p>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39243212-C826-5BB3-3FAA-5525B1268C35}"/>
                  </a:ext>
                </a:extLst>
              </p:cNvPr>
              <p:cNvSpPr>
                <a:spLocks noGrp="1" noRot="1" noChangeAspect="1" noMove="1" noResize="1" noEditPoints="1" noAdjustHandles="1" noChangeArrowheads="1" noChangeShapeType="1" noTextEdit="1"/>
              </p:cNvSpPr>
              <p:nvPr>
                <p:ph idx="1"/>
              </p:nvPr>
            </p:nvSpPr>
            <p:spPr>
              <a:xfrm>
                <a:off x="1066800" y="2014194"/>
                <a:ext cx="10058400" cy="4434732"/>
              </a:xfrm>
              <a:blipFill>
                <a:blip r:embed="rId2"/>
                <a:stretch>
                  <a:fillRect l="-424" t="-68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008BB4B-8D1F-7196-EABA-67EB2CE39005}"/>
                  </a:ext>
                </a:extLst>
              </p:cNvPr>
              <p:cNvSpPr txBox="1"/>
              <p:nvPr/>
            </p:nvSpPr>
            <p:spPr>
              <a:xfrm>
                <a:off x="-3792582" y="1723800"/>
                <a:ext cx="65" cy="830997"/>
              </a:xfrm>
              <a:prstGeom prst="rect">
                <a:avLst/>
              </a:prstGeom>
              <a:noFill/>
            </p:spPr>
            <p:txBody>
              <a:bodyPr wrap="none" lIns="0" tIns="0" rIns="0" bIns="0" rtlCol="0">
                <a:spAutoFit/>
              </a:bodyPr>
              <a:lstStyle/>
              <a:p>
                <a:endParaRPr lang="en-IN" i="1" dirty="0">
                  <a:latin typeface="Cambria Math" panose="02040503050406030204" pitchFamily="18" charset="0"/>
                </a:endParaRPr>
              </a:p>
              <a:p>
                <a:endParaRPr lang="en-IN" i="1" dirty="0">
                  <a:latin typeface="Cambria Math" panose="02040503050406030204" pitchFamily="18" charset="0"/>
                </a:endParaRPr>
              </a:p>
              <a:p>
                <a:endParaRPr lang="en-IN" dirty="0"/>
              </a:p>
            </p:txBody>
          </p:sp>
        </mc:Choice>
        <mc:Fallback xmlns="">
          <p:sp>
            <p:nvSpPr>
              <p:cNvPr id="4" name="TextBox 3">
                <a:extLst>
                  <a:ext uri="{FF2B5EF4-FFF2-40B4-BE49-F238E27FC236}">
                    <a16:creationId xmlns:a16="http://schemas.microsoft.com/office/drawing/2014/main" id="{C008BB4B-8D1F-7196-EABA-67EB2CE39005}"/>
                  </a:ext>
                </a:extLst>
              </p:cNvPr>
              <p:cNvSpPr txBox="1">
                <a:spLocks noRot="1" noChangeAspect="1" noMove="1" noResize="1" noEditPoints="1" noAdjustHandles="1" noChangeArrowheads="1" noChangeShapeType="1" noTextEdit="1"/>
              </p:cNvSpPr>
              <p:nvPr/>
            </p:nvSpPr>
            <p:spPr>
              <a:xfrm>
                <a:off x="-3792582" y="1723800"/>
                <a:ext cx="65" cy="830997"/>
              </a:xfrm>
              <a:prstGeom prst="rect">
                <a:avLst/>
              </a:prstGeom>
              <a:blipFill>
                <a:blip r:embed="rId3"/>
                <a:stretch>
                  <a:fillRect l="-2400000" r="-3000000"/>
                </a:stretch>
              </a:blipFill>
            </p:spPr>
            <p:txBody>
              <a:bodyPr/>
              <a:lstStyle/>
              <a:p>
                <a:r>
                  <a:rPr lang="en-IN">
                    <a:noFill/>
                  </a:rPr>
                  <a:t> </a:t>
                </a:r>
              </a:p>
            </p:txBody>
          </p:sp>
        </mc:Fallback>
      </mc:AlternateContent>
    </p:spTree>
    <p:extLst>
      <p:ext uri="{BB962C8B-B14F-4D97-AF65-F5344CB8AC3E}">
        <p14:creationId xmlns:p14="http://schemas.microsoft.com/office/powerpoint/2010/main" val="2437872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B66B2C-44E7-93F6-16CE-1A760057552F}"/>
                  </a:ext>
                </a:extLst>
              </p:cNvPr>
              <p:cNvSpPr>
                <a:spLocks noGrp="1"/>
              </p:cNvSpPr>
              <p:nvPr>
                <p:ph idx="1"/>
              </p:nvPr>
            </p:nvSpPr>
            <p:spPr>
              <a:xfrm>
                <a:off x="1066800" y="524933"/>
                <a:ext cx="10058400" cy="5510107"/>
              </a:xfrm>
            </p:spPr>
            <p:txBody>
              <a:bodyPr/>
              <a:lstStyle/>
              <a:p>
                <a:pPr marL="0" indent="0">
                  <a:buNone/>
                </a:pPr>
                <a14:m>
                  <m:oMathPara xmlns:m="http://schemas.openxmlformats.org/officeDocument/2006/math">
                    <m:oMathParaPr>
                      <m:jc m:val="center"/>
                    </m:oMathParaPr>
                    <m:oMath xmlns:m="http://schemas.openxmlformats.org/officeDocument/2006/math">
                      <m:sSup>
                        <m:sSupPr>
                          <m:ctrlPr>
                            <a:rPr lang="en-IN" i="1" smtClean="0">
                              <a:latin typeface="Cambria Math" panose="02040503050406030204" pitchFamily="18" charset="0"/>
                            </a:rPr>
                          </m:ctrlPr>
                        </m:sSupPr>
                        <m:e>
                          <m:r>
                            <a:rPr lang="en-IN" i="1">
                              <a:latin typeface="Cambria Math" panose="02040503050406030204" pitchFamily="18" charset="0"/>
                            </a:rPr>
                            <m:t>𝛾</m:t>
                          </m:r>
                        </m:e>
                        <m:sup>
                          <m:r>
                            <a:rPr lang="en-IN" i="1">
                              <a:latin typeface="Cambria Math" panose="02040503050406030204" pitchFamily="18" charset="0"/>
                            </a:rPr>
                            <m:t>𝑛</m:t>
                          </m:r>
                          <m:r>
                            <a:rPr lang="en-IN" i="1">
                              <a:latin typeface="Cambria Math" panose="02040503050406030204" pitchFamily="18" charset="0"/>
                            </a:rPr>
                            <m:t>+1</m:t>
                          </m:r>
                        </m:sup>
                      </m:sSup>
                      <m:r>
                        <a:rPr lang="en-IN" i="1">
                          <a:latin typeface="Cambria Math" panose="02040503050406030204" pitchFamily="18" charset="0"/>
                        </a:rPr>
                        <m:t>=</m:t>
                      </m:r>
                      <m:func>
                        <m:funcPr>
                          <m:ctrlPr>
                            <a:rPr lang="en-IN" i="1">
                              <a:latin typeface="Cambria Math" panose="02040503050406030204" pitchFamily="18" charset="0"/>
                            </a:rPr>
                          </m:ctrlPr>
                        </m:funcPr>
                        <m:fName>
                          <m:r>
                            <m:rPr>
                              <m:sty m:val="p"/>
                            </m:rPr>
                            <a:rPr lang="en-IN" i="0">
                              <a:latin typeface="Cambria Math" panose="02040503050406030204" pitchFamily="18" charset="0"/>
                            </a:rPr>
                            <m:t>arg</m:t>
                          </m:r>
                        </m:fName>
                        <m:e>
                          <m:func>
                            <m:funcPr>
                              <m:ctrlPr>
                                <a:rPr lang="en-IN" i="1">
                                  <a:latin typeface="Cambria Math" panose="02040503050406030204" pitchFamily="18" charset="0"/>
                                </a:rPr>
                              </m:ctrlPr>
                            </m:funcPr>
                            <m:fName>
                              <m:limLow>
                                <m:limLowPr>
                                  <m:ctrlPr>
                                    <a:rPr lang="en-IN" i="1">
                                      <a:latin typeface="Cambria Math" panose="02040503050406030204" pitchFamily="18" charset="0"/>
                                    </a:rPr>
                                  </m:ctrlPr>
                                </m:limLowPr>
                                <m:e>
                                  <m:r>
                                    <m:rPr>
                                      <m:sty m:val="p"/>
                                    </m:rPr>
                                    <a:rPr lang="en-IN" i="0">
                                      <a:latin typeface="Cambria Math" panose="02040503050406030204" pitchFamily="18" charset="0"/>
                                    </a:rPr>
                                    <m:t>min</m:t>
                                  </m:r>
                                </m:e>
                                <m:lim>
                                  <m:r>
                                    <a:rPr lang="en-IN" i="1">
                                      <a:latin typeface="Cambria Math" panose="02040503050406030204" pitchFamily="18" charset="0"/>
                                    </a:rPr>
                                    <m:t>𝛾</m:t>
                                  </m:r>
                                </m:lim>
                              </m:limLow>
                            </m:fName>
                            <m:e>
                              <m:d>
                                <m:dPr>
                                  <m:begChr m:val="{"/>
                                  <m:endChr m:val="}"/>
                                  <m:ctrlPr>
                                    <a:rPr lang="en-IN" i="1">
                                      <a:latin typeface="Cambria Math" panose="02040503050406030204" pitchFamily="18" charset="0"/>
                                    </a:rPr>
                                  </m:ctrlPr>
                                </m:dPr>
                                <m:e>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2</m:t>
                                      </m:r>
                                    </m:den>
                                  </m:f>
                                  <m:r>
                                    <m:rPr>
                                      <m:lit/>
                                    </m:rPr>
                                    <a:rPr lang="en-IN" i="1">
                                      <a:latin typeface="Cambria Math" panose="02040503050406030204" pitchFamily="18" charset="0"/>
                                    </a:rPr>
                                    <m:t>|</m:t>
                                  </m:r>
                                  <m:r>
                                    <a:rPr lang="en-IN" i="1">
                                      <a:latin typeface="Cambria Math" panose="02040503050406030204" pitchFamily="18" charset="0"/>
                                    </a:rPr>
                                    <m:t>𝑌</m:t>
                                  </m:r>
                                  <m:r>
                                    <a:rPr lang="en-IN" i="1">
                                      <a:latin typeface="Cambria Math" panose="02040503050406030204" pitchFamily="18" charset="0"/>
                                    </a:rPr>
                                    <m:t>−</m:t>
                                  </m:r>
                                  <m:r>
                                    <a:rPr lang="en-IN" i="1">
                                      <a:latin typeface="Cambria Math" panose="02040503050406030204" pitchFamily="18" charset="0"/>
                                    </a:rPr>
                                    <m:t>𝑋</m:t>
                                  </m:r>
                                  <m:sSup>
                                    <m:sSupPr>
                                      <m:ctrlPr>
                                        <a:rPr lang="en-IN" i="1">
                                          <a:latin typeface="Cambria Math" panose="02040503050406030204" pitchFamily="18" charset="0"/>
                                        </a:rPr>
                                      </m:ctrlPr>
                                    </m:sSupPr>
                                    <m:e>
                                      <m:r>
                                        <a:rPr lang="en-IN" i="1">
                                          <a:latin typeface="Cambria Math" panose="02040503050406030204" pitchFamily="18" charset="0"/>
                                        </a:rPr>
                                        <m:t>𝛽</m:t>
                                      </m:r>
                                    </m:e>
                                    <m:sup>
                                      <m:r>
                                        <a:rPr lang="en-IN" i="1">
                                          <a:latin typeface="Cambria Math" panose="02040503050406030204" pitchFamily="18" charset="0"/>
                                        </a:rPr>
                                        <m:t>𝑛</m:t>
                                      </m:r>
                                    </m:sup>
                                  </m:sSup>
                                  <m:r>
                                    <a:rPr lang="en-IN" i="1">
                                      <a:latin typeface="Cambria Math" panose="02040503050406030204" pitchFamily="18" charset="0"/>
                                    </a:rPr>
                                    <m:t>−</m:t>
                                  </m:r>
                                  <m:r>
                                    <a:rPr lang="en-IN" i="1">
                                      <a:latin typeface="Cambria Math" panose="02040503050406030204" pitchFamily="18" charset="0"/>
                                    </a:rPr>
                                    <m:t>𝐵</m:t>
                                  </m:r>
                                  <m:r>
                                    <a:rPr lang="en-IN" i="1">
                                      <a:latin typeface="Cambria Math" panose="02040503050406030204" pitchFamily="18" charset="0"/>
                                    </a:rPr>
                                    <m:t>𝛾</m:t>
                                  </m:r>
                                  <m:sSup>
                                    <m:sSupPr>
                                      <m:ctrlPr>
                                        <a:rPr lang="en-IN" i="1">
                                          <a:latin typeface="Cambria Math" panose="02040503050406030204" pitchFamily="18" charset="0"/>
                                        </a:rPr>
                                      </m:ctrlPr>
                                    </m:sSupPr>
                                    <m:e>
                                      <m:r>
                                        <m:rPr>
                                          <m:lit/>
                                        </m:rPr>
                                        <a:rPr lang="en-IN" i="1">
                                          <a:latin typeface="Cambria Math" panose="02040503050406030204" pitchFamily="18" charset="0"/>
                                        </a:rPr>
                                        <m:t>|</m:t>
                                      </m:r>
                                    </m:e>
                                    <m:sup>
                                      <m:r>
                                        <a:rPr lang="en-IN" i="1">
                                          <a:latin typeface="Cambria Math" panose="02040503050406030204" pitchFamily="18" charset="0"/>
                                        </a:rPr>
                                        <m:t>2</m:t>
                                      </m:r>
                                    </m:sup>
                                  </m:sSup>
                                </m:e>
                              </m:d>
                            </m:e>
                          </m:func>
                        </m:e>
                      </m:func>
                    </m:oMath>
                  </m:oMathPara>
                </a14:m>
                <a:endParaRPr lang="en-IN" dirty="0"/>
              </a:p>
              <a:p>
                <a:pPr marL="0" indent="0">
                  <a:buNone/>
                </a:pPr>
                <a:endParaRPr lang="en-I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𝐿</m:t>
                              </m:r>
                            </m:e>
                            <m:sub>
                              <m:r>
                                <a:rPr lang="en-IN" i="1">
                                  <a:latin typeface="Cambria Math" panose="02040503050406030204" pitchFamily="18" charset="0"/>
                                </a:rPr>
                                <m:t>𝑝</m:t>
                              </m:r>
                            </m:sub>
                          </m:sSub>
                          <m:d>
                            <m:dPr>
                              <m:ctrlPr>
                                <a:rPr lang="en-IN" i="1">
                                  <a:latin typeface="Cambria Math" panose="02040503050406030204" pitchFamily="18" charset="0"/>
                                </a:rPr>
                              </m:ctrlPr>
                            </m:dPr>
                            <m:e>
                              <m:r>
                                <a:rPr lang="en-IN" i="1">
                                  <a:latin typeface="Cambria Math" panose="02040503050406030204" pitchFamily="18" charset="0"/>
                                </a:rPr>
                                <m:t>𝛽</m:t>
                              </m:r>
                              <m:r>
                                <a:rPr lang="en-IN" i="1">
                                  <a:latin typeface="Cambria Math" panose="02040503050406030204" pitchFamily="18" charset="0"/>
                                </a:rPr>
                                <m:t>,</m:t>
                              </m:r>
                              <m:r>
                                <a:rPr lang="en-IN" i="1">
                                  <a:latin typeface="Cambria Math" panose="02040503050406030204" pitchFamily="18" charset="0"/>
                                </a:rPr>
                                <m:t>𝛾</m:t>
                              </m:r>
                              <m:r>
                                <a:rPr lang="en-IN" i="1">
                                  <a:latin typeface="Cambria Math" panose="02040503050406030204" pitchFamily="18" charset="0"/>
                                </a:rPr>
                                <m:t>,</m:t>
                              </m:r>
                              <m:r>
                                <a:rPr lang="en-IN" i="1">
                                  <a:latin typeface="Cambria Math" panose="02040503050406030204" pitchFamily="18" charset="0"/>
                                </a:rPr>
                                <m:t>𝜆</m:t>
                              </m:r>
                            </m:e>
                          </m:d>
                        </m:num>
                        <m:den>
                          <m:r>
                            <a:rPr lang="en-IN" i="1">
                              <a:latin typeface="Cambria Math" panose="02040503050406030204" pitchFamily="18" charset="0"/>
                            </a:rPr>
                            <m:t>𝜕𝛾</m:t>
                          </m:r>
                        </m:den>
                      </m:f>
                      <m:r>
                        <a:rPr lang="en-IN" i="1">
                          <a:latin typeface="Cambria Math" panose="02040503050406030204" pitchFamily="18" charset="0"/>
                        </a:rPr>
                        <m:t>=−</m:t>
                      </m:r>
                      <m:r>
                        <a:rPr lang="en-IN" i="1">
                          <a:latin typeface="Cambria Math" panose="02040503050406030204" pitchFamily="18" charset="0"/>
                        </a:rPr>
                        <m:t>𝐵</m:t>
                      </m:r>
                      <m:d>
                        <m:dPr>
                          <m:ctrlPr>
                            <a:rPr lang="en-IN" i="1">
                              <a:latin typeface="Cambria Math" panose="02040503050406030204" pitchFamily="18" charset="0"/>
                            </a:rPr>
                          </m:ctrlPr>
                        </m:dPr>
                        <m:e>
                          <m:r>
                            <a:rPr lang="en-IN" i="1">
                              <a:latin typeface="Cambria Math" panose="02040503050406030204" pitchFamily="18" charset="0"/>
                            </a:rPr>
                            <m:t>𝑌</m:t>
                          </m:r>
                          <m:r>
                            <a:rPr lang="en-IN" i="1">
                              <a:latin typeface="Cambria Math" panose="02040503050406030204" pitchFamily="18" charset="0"/>
                            </a:rPr>
                            <m:t>−</m:t>
                          </m:r>
                          <m:r>
                            <a:rPr lang="en-IN" i="1">
                              <a:latin typeface="Cambria Math" panose="02040503050406030204" pitchFamily="18" charset="0"/>
                            </a:rPr>
                            <m:t>𝑋</m:t>
                          </m:r>
                          <m:sSup>
                            <m:sSupPr>
                              <m:ctrlPr>
                                <a:rPr lang="en-IN" i="1">
                                  <a:latin typeface="Cambria Math" panose="02040503050406030204" pitchFamily="18" charset="0"/>
                                </a:rPr>
                              </m:ctrlPr>
                            </m:sSupPr>
                            <m:e>
                              <m:r>
                                <a:rPr lang="en-IN" i="1">
                                  <a:latin typeface="Cambria Math" panose="02040503050406030204" pitchFamily="18" charset="0"/>
                                </a:rPr>
                                <m:t>𝛽</m:t>
                              </m:r>
                            </m:e>
                            <m:sup>
                              <m:r>
                                <a:rPr lang="en-IN" i="1">
                                  <a:latin typeface="Cambria Math" panose="02040503050406030204" pitchFamily="18" charset="0"/>
                                </a:rPr>
                                <m:t>𝑛</m:t>
                              </m:r>
                            </m:sup>
                          </m:sSup>
                          <m:r>
                            <a:rPr lang="en-IN" i="1">
                              <a:latin typeface="Cambria Math" panose="02040503050406030204" pitchFamily="18" charset="0"/>
                            </a:rPr>
                            <m:t>−</m:t>
                          </m:r>
                          <m:r>
                            <a:rPr lang="en-IN" i="1">
                              <a:latin typeface="Cambria Math" panose="02040503050406030204" pitchFamily="18" charset="0"/>
                            </a:rPr>
                            <m:t>𝐵</m:t>
                          </m:r>
                          <m:r>
                            <a:rPr lang="en-IN" i="1">
                              <a:latin typeface="Cambria Math" panose="02040503050406030204" pitchFamily="18" charset="0"/>
                            </a:rPr>
                            <m:t>𝛾</m:t>
                          </m:r>
                        </m:e>
                      </m:d>
                      <m:r>
                        <a:rPr lang="en-IN" i="1">
                          <a:latin typeface="Cambria Math" panose="02040503050406030204" pitchFamily="18" charset="0"/>
                        </a:rPr>
                        <m:t>=0</m:t>
                      </m:r>
                    </m:oMath>
                  </m:oMathPara>
                </a14:m>
                <a:endParaRPr lang="en-IN" dirty="0"/>
              </a:p>
              <a:p>
                <a:pPr marL="0" indent="0">
                  <a:buNone/>
                </a:pPr>
                <a:endParaRPr lang="en-I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IN" i="1" smtClean="0">
                              <a:latin typeface="Cambria Math" panose="02040503050406030204" pitchFamily="18" charset="0"/>
                            </a:rPr>
                          </m:ctrlPr>
                        </m:sSupPr>
                        <m:e>
                          <m:r>
                            <a:rPr lang="en-IN" i="1">
                              <a:latin typeface="Cambria Math" panose="02040503050406030204" pitchFamily="18" charset="0"/>
                            </a:rPr>
                            <m:t>𝛾</m:t>
                          </m:r>
                        </m:e>
                        <m:sup>
                          <m:r>
                            <a:rPr lang="en-IN" i="1">
                              <a:latin typeface="Cambria Math" panose="02040503050406030204" pitchFamily="18" charset="0"/>
                            </a:rPr>
                            <m:t>𝑛</m:t>
                          </m:r>
                          <m:r>
                            <a:rPr lang="en-IN" i="1">
                              <a:latin typeface="Cambria Math" panose="02040503050406030204" pitchFamily="18" charset="0"/>
                            </a:rPr>
                            <m:t>+1</m:t>
                          </m:r>
                        </m:sup>
                      </m:sSup>
                      <m:r>
                        <a:rPr lang="en-IN" i="1">
                          <a:latin typeface="Cambria Math" panose="02040503050406030204" pitchFamily="18" charset="0"/>
                        </a:rPr>
                        <m:t>=</m:t>
                      </m:r>
                      <m:sSup>
                        <m:sSupPr>
                          <m:ctrlPr>
                            <a:rPr lang="en-IN" i="1">
                              <a:latin typeface="Cambria Math" panose="02040503050406030204" pitchFamily="18" charset="0"/>
                            </a:rPr>
                          </m:ctrlPr>
                        </m:sSupPr>
                        <m:e>
                          <m:d>
                            <m:dPr>
                              <m:ctrlPr>
                                <a:rPr lang="en-IN" i="1">
                                  <a:latin typeface="Cambria Math" panose="02040503050406030204" pitchFamily="18" charset="0"/>
                                </a:rPr>
                              </m:ctrlPr>
                            </m:dPr>
                            <m:e>
                              <m:sSup>
                                <m:sSupPr>
                                  <m:ctrlPr>
                                    <a:rPr lang="en-IN" i="1">
                                      <a:latin typeface="Cambria Math" panose="02040503050406030204" pitchFamily="18" charset="0"/>
                                    </a:rPr>
                                  </m:ctrlPr>
                                </m:sSupPr>
                                <m:e>
                                  <m:r>
                                    <a:rPr lang="en-IN" i="1">
                                      <a:latin typeface="Cambria Math" panose="02040503050406030204" pitchFamily="18" charset="0"/>
                                    </a:rPr>
                                    <m:t>𝐵</m:t>
                                  </m:r>
                                </m:e>
                                <m:sup>
                                  <m:r>
                                    <a:rPr lang="en-IN" i="1">
                                      <a:latin typeface="Cambria Math" panose="02040503050406030204" pitchFamily="18" charset="0"/>
                                    </a:rPr>
                                    <m:t>𝑇</m:t>
                                  </m:r>
                                </m:sup>
                              </m:sSup>
                              <m:r>
                                <a:rPr lang="en-IN" i="1">
                                  <a:latin typeface="Cambria Math" panose="02040503050406030204" pitchFamily="18" charset="0"/>
                                </a:rPr>
                                <m:t>𝐵</m:t>
                              </m:r>
                            </m:e>
                          </m:d>
                        </m:e>
                        <m:sup>
                          <m:r>
                            <a:rPr lang="en-IN" i="1">
                              <a:latin typeface="Cambria Math" panose="02040503050406030204" pitchFamily="18" charset="0"/>
                            </a:rPr>
                            <m:t>−1</m:t>
                          </m:r>
                        </m:sup>
                      </m:sSup>
                      <m:sSup>
                        <m:sSupPr>
                          <m:ctrlPr>
                            <a:rPr lang="en-IN" i="1">
                              <a:latin typeface="Cambria Math" panose="02040503050406030204" pitchFamily="18" charset="0"/>
                            </a:rPr>
                          </m:ctrlPr>
                        </m:sSupPr>
                        <m:e>
                          <m:r>
                            <a:rPr lang="en-IN" i="1">
                              <a:latin typeface="Cambria Math" panose="02040503050406030204" pitchFamily="18" charset="0"/>
                            </a:rPr>
                            <m:t>𝐵</m:t>
                          </m:r>
                        </m:e>
                        <m:sup>
                          <m:r>
                            <a:rPr lang="en-IN" i="1">
                              <a:latin typeface="Cambria Math" panose="02040503050406030204" pitchFamily="18" charset="0"/>
                            </a:rPr>
                            <m:t>𝑇</m:t>
                          </m:r>
                        </m:sup>
                      </m:sSup>
                      <m:d>
                        <m:dPr>
                          <m:ctrlPr>
                            <a:rPr lang="en-IN" i="1">
                              <a:latin typeface="Cambria Math" panose="02040503050406030204" pitchFamily="18" charset="0"/>
                            </a:rPr>
                          </m:ctrlPr>
                        </m:dPr>
                        <m:e>
                          <m:r>
                            <a:rPr lang="en-IN" i="1">
                              <a:latin typeface="Cambria Math" panose="02040503050406030204" pitchFamily="18" charset="0"/>
                            </a:rPr>
                            <m:t>𝑌</m:t>
                          </m:r>
                          <m:r>
                            <a:rPr lang="en-IN" i="1">
                              <a:latin typeface="Cambria Math" panose="02040503050406030204" pitchFamily="18" charset="0"/>
                            </a:rPr>
                            <m:t>−</m:t>
                          </m:r>
                          <m:r>
                            <a:rPr lang="en-IN" i="1">
                              <a:latin typeface="Cambria Math" panose="02040503050406030204" pitchFamily="18" charset="0"/>
                            </a:rPr>
                            <m:t>𝑋</m:t>
                          </m:r>
                          <m:sSup>
                            <m:sSupPr>
                              <m:ctrlPr>
                                <a:rPr lang="en-IN" i="1">
                                  <a:latin typeface="Cambria Math" panose="02040503050406030204" pitchFamily="18" charset="0"/>
                                </a:rPr>
                              </m:ctrlPr>
                            </m:sSupPr>
                            <m:e>
                              <m:r>
                                <a:rPr lang="en-IN" i="1">
                                  <a:latin typeface="Cambria Math" panose="02040503050406030204" pitchFamily="18" charset="0"/>
                                </a:rPr>
                                <m:t>𝛽</m:t>
                              </m:r>
                            </m:e>
                            <m:sup>
                              <m:r>
                                <a:rPr lang="en-IN" i="1">
                                  <a:latin typeface="Cambria Math" panose="02040503050406030204" pitchFamily="18" charset="0"/>
                                </a:rPr>
                                <m:t>𝑛</m:t>
                              </m:r>
                            </m:sup>
                          </m:sSup>
                        </m:e>
                      </m:d>
                    </m:oMath>
                  </m:oMathPara>
                </a14:m>
                <a:endParaRPr lang="en-IN" dirty="0"/>
              </a:p>
              <a:p>
                <a:pPr marL="0" indent="0">
                  <a:buNone/>
                </a:pPr>
                <a:endParaRPr lang="en-IN"/>
              </a:p>
              <a:p>
                <a:pPr marL="0" indent="0">
                  <a:buNone/>
                </a:pPr>
                <a:r>
                  <a:rPr lang="en-IN"/>
                  <a:t>Update </a:t>
                </a:r>
                <a:r>
                  <a:rPr lang="en-IN" dirty="0"/>
                  <a:t>equation for lambda</a:t>
                </a:r>
              </a:p>
              <a:p>
                <a:pPr marL="0" indent="0">
                  <a:buNone/>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 </m:t>
                      </m:r>
                    </m:oMath>
                  </m:oMathPara>
                </a14:m>
                <a:endParaRPr lang="en-IN" dirty="0"/>
              </a:p>
              <a:p>
                <a:pPr marL="0" indent="0">
                  <a:buNone/>
                </a:pPr>
                <a14:m>
                  <m:oMathPara xmlns:m="http://schemas.openxmlformats.org/officeDocument/2006/math">
                    <m:oMathParaPr>
                      <m:jc m:val="centerGroup"/>
                    </m:oMathParaPr>
                    <m:oMath xmlns:m="http://schemas.openxmlformats.org/officeDocument/2006/math">
                      <m:acc>
                        <m:accPr>
                          <m:chr m:val="̇"/>
                          <m:ctrlPr>
                            <a:rPr lang="en-IN" i="1" smtClean="0">
                              <a:latin typeface="Cambria Math" panose="02040503050406030204" pitchFamily="18" charset="0"/>
                            </a:rPr>
                          </m:ctrlPr>
                        </m:accPr>
                        <m:e>
                          <m:sSup>
                            <m:sSupPr>
                              <m:ctrlPr>
                                <a:rPr lang="en-IN" i="1">
                                  <a:latin typeface="Cambria Math" panose="02040503050406030204" pitchFamily="18" charset="0"/>
                                </a:rPr>
                              </m:ctrlPr>
                            </m:sSupPr>
                            <m:e>
                              <m:r>
                                <a:rPr lang="en-IN" i="1">
                                  <a:latin typeface="Cambria Math" panose="02040503050406030204" pitchFamily="18" charset="0"/>
                                </a:rPr>
                                <m:t>𝜆</m:t>
                              </m:r>
                            </m:e>
                            <m:sup>
                              <m:r>
                                <a:rPr lang="en-IN" i="1">
                                  <a:latin typeface="Cambria Math" panose="02040503050406030204" pitchFamily="18" charset="0"/>
                                </a:rPr>
                                <m:t>𝑛</m:t>
                              </m:r>
                              <m:r>
                                <a:rPr lang="en-IN" i="1">
                                  <a:latin typeface="Cambria Math" panose="02040503050406030204" pitchFamily="18" charset="0"/>
                                </a:rPr>
                                <m:t>+1</m:t>
                              </m:r>
                            </m:sup>
                          </m:sSup>
                        </m:e>
                      </m:acc>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𝜆</m:t>
                          </m:r>
                        </m:e>
                        <m:sup>
                          <m:r>
                            <a:rPr lang="en-IN" i="1">
                              <a:latin typeface="Cambria Math" panose="02040503050406030204" pitchFamily="18" charset="0"/>
                            </a:rPr>
                            <m:t>𝑛</m:t>
                          </m:r>
                        </m:sup>
                      </m:sSup>
                      <m:r>
                        <a:rPr lang="en-IN" i="1">
                          <a:latin typeface="Cambria Math" panose="02040503050406030204" pitchFamily="18" charset="0"/>
                        </a:rPr>
                        <m:t>+</m:t>
                      </m:r>
                      <m:r>
                        <a:rPr lang="en-IN" i="1">
                          <a:latin typeface="Cambria Math" panose="02040503050406030204" pitchFamily="18" charset="0"/>
                        </a:rPr>
                        <m:t>𝜌</m:t>
                      </m:r>
                      <m:d>
                        <m:dPr>
                          <m:ctrlPr>
                            <a:rPr lang="en-IN" i="1">
                              <a:latin typeface="Cambria Math" panose="02040503050406030204" pitchFamily="18" charset="0"/>
                            </a:rPr>
                          </m:ctrlPr>
                        </m:dPr>
                        <m:e>
                          <m:r>
                            <a:rPr lang="en-IN" i="1">
                              <a:latin typeface="Cambria Math" panose="02040503050406030204" pitchFamily="18" charset="0"/>
                            </a:rPr>
                            <m:t>𝑅</m:t>
                          </m:r>
                          <m:sSup>
                            <m:sSupPr>
                              <m:ctrlPr>
                                <a:rPr lang="en-IN" i="1">
                                  <a:latin typeface="Cambria Math" panose="02040503050406030204" pitchFamily="18" charset="0"/>
                                </a:rPr>
                              </m:ctrlPr>
                            </m:sSupPr>
                            <m:e>
                              <m:r>
                                <a:rPr lang="en-IN" i="1">
                                  <a:latin typeface="Cambria Math" panose="02040503050406030204" pitchFamily="18" charset="0"/>
                                </a:rPr>
                                <m:t>𝛽</m:t>
                              </m:r>
                            </m:e>
                            <m:sup>
                              <m:r>
                                <a:rPr lang="en-IN" i="1">
                                  <a:latin typeface="Cambria Math" panose="02040503050406030204" pitchFamily="18" charset="0"/>
                                </a:rPr>
                                <m:t>𝑛</m:t>
                              </m:r>
                              <m:r>
                                <a:rPr lang="en-IN" i="1">
                                  <a:latin typeface="Cambria Math" panose="02040503050406030204" pitchFamily="18" charset="0"/>
                                </a:rPr>
                                <m:t>+1</m:t>
                              </m:r>
                            </m:sup>
                          </m:sSup>
                          <m:r>
                            <a:rPr lang="en-IN" i="1">
                              <a:latin typeface="Cambria Math" panose="02040503050406030204" pitchFamily="18" charset="0"/>
                            </a:rPr>
                            <m:t>−</m:t>
                          </m:r>
                          <m:acc>
                            <m:accPr>
                              <m:chr m:val="̇"/>
                              <m:ctrlPr>
                                <a:rPr lang="en-IN" i="1">
                                  <a:latin typeface="Cambria Math" panose="02040503050406030204" pitchFamily="18" charset="0"/>
                                </a:rPr>
                              </m:ctrlPr>
                            </m:accPr>
                            <m:e>
                              <m:r>
                                <a:rPr lang="en-IN" i="1">
                                  <a:latin typeface="Cambria Math" panose="02040503050406030204" pitchFamily="18" charset="0"/>
                                </a:rPr>
                                <m:t>𝑑</m:t>
                              </m:r>
                            </m:e>
                          </m:acc>
                        </m:e>
                      </m:d>
                    </m:oMath>
                  </m:oMathPara>
                </a14:m>
                <a:endParaRPr lang="en-IN" dirty="0"/>
              </a:p>
              <a:p>
                <a:endParaRPr lang="en-IN" dirty="0"/>
              </a:p>
            </p:txBody>
          </p:sp>
        </mc:Choice>
        <mc:Fallback xmlns="">
          <p:sp>
            <p:nvSpPr>
              <p:cNvPr id="3" name="Content Placeholder 2">
                <a:extLst>
                  <a:ext uri="{FF2B5EF4-FFF2-40B4-BE49-F238E27FC236}">
                    <a16:creationId xmlns:a16="http://schemas.microsoft.com/office/drawing/2014/main" id="{4EB66B2C-44E7-93F6-16CE-1A760057552F}"/>
                  </a:ext>
                </a:extLst>
              </p:cNvPr>
              <p:cNvSpPr>
                <a:spLocks noGrp="1" noRot="1" noChangeAspect="1" noMove="1" noResize="1" noEditPoints="1" noAdjustHandles="1" noChangeArrowheads="1" noChangeShapeType="1" noTextEdit="1"/>
              </p:cNvSpPr>
              <p:nvPr>
                <p:ph idx="1"/>
              </p:nvPr>
            </p:nvSpPr>
            <p:spPr>
              <a:xfrm>
                <a:off x="1066800" y="524933"/>
                <a:ext cx="10058400" cy="5510107"/>
              </a:xfrm>
              <a:blipFill>
                <a:blip r:embed="rId2"/>
                <a:stretch>
                  <a:fillRect l="-485"/>
                </a:stretch>
              </a:blipFill>
            </p:spPr>
            <p:txBody>
              <a:bodyPr/>
              <a:lstStyle/>
              <a:p>
                <a:r>
                  <a:rPr lang="en-IN">
                    <a:noFill/>
                  </a:rPr>
                  <a:t> </a:t>
                </a:r>
              </a:p>
            </p:txBody>
          </p:sp>
        </mc:Fallback>
      </mc:AlternateContent>
    </p:spTree>
    <p:extLst>
      <p:ext uri="{BB962C8B-B14F-4D97-AF65-F5344CB8AC3E}">
        <p14:creationId xmlns:p14="http://schemas.microsoft.com/office/powerpoint/2010/main" val="2083866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893F9-E7E5-B969-CB6D-465FC189A21B}"/>
              </a:ext>
            </a:extLst>
          </p:cNvPr>
          <p:cNvSpPr>
            <a:spLocks noGrp="1"/>
          </p:cNvSpPr>
          <p:nvPr>
            <p:ph type="title"/>
          </p:nvPr>
        </p:nvSpPr>
        <p:spPr>
          <a:xfrm>
            <a:off x="1066800" y="2369794"/>
            <a:ext cx="10058400" cy="1371600"/>
          </a:xfrm>
        </p:spPr>
        <p:txBody>
          <a:bodyPr/>
          <a:lstStyle/>
          <a:p>
            <a:pPr algn="ctr"/>
            <a:r>
              <a:rPr lang="en-IN" dirty="0"/>
              <a:t>Workflow</a:t>
            </a:r>
          </a:p>
        </p:txBody>
      </p:sp>
    </p:spTree>
    <p:extLst>
      <p:ext uri="{BB962C8B-B14F-4D97-AF65-F5344CB8AC3E}">
        <p14:creationId xmlns:p14="http://schemas.microsoft.com/office/powerpoint/2010/main" val="1084658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578AEA2-2665-5265-BEF9-0FACD7AC0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0359" y="91440"/>
            <a:ext cx="607161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634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A22CF-53A6-AA1B-EFA8-63A0E6A073DC}"/>
              </a:ext>
            </a:extLst>
          </p:cNvPr>
          <p:cNvSpPr>
            <a:spLocks noGrp="1"/>
          </p:cNvSpPr>
          <p:nvPr>
            <p:ph type="title"/>
          </p:nvPr>
        </p:nvSpPr>
        <p:spPr>
          <a:xfrm>
            <a:off x="889000" y="2318995"/>
            <a:ext cx="10058400" cy="1371600"/>
          </a:xfrm>
        </p:spPr>
        <p:txBody>
          <a:bodyPr/>
          <a:lstStyle/>
          <a:p>
            <a:pPr algn="ctr"/>
            <a:r>
              <a:rPr lang="en-IN" dirty="0"/>
              <a:t>Results</a:t>
            </a:r>
          </a:p>
        </p:txBody>
      </p:sp>
    </p:spTree>
    <p:extLst>
      <p:ext uri="{BB962C8B-B14F-4D97-AF65-F5344CB8AC3E}">
        <p14:creationId xmlns:p14="http://schemas.microsoft.com/office/powerpoint/2010/main" val="4271038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237B0-3EC7-A50F-B7E2-24BDA987AC9D}"/>
              </a:ext>
            </a:extLst>
          </p:cNvPr>
          <p:cNvSpPr>
            <a:spLocks noGrp="1"/>
          </p:cNvSpPr>
          <p:nvPr>
            <p:ph type="title"/>
          </p:nvPr>
        </p:nvSpPr>
        <p:spPr/>
        <p:txBody>
          <a:bodyPr>
            <a:normAutofit fontScale="90000"/>
          </a:bodyPr>
          <a:lstStyle/>
          <a:p>
            <a:r>
              <a:rPr lang="en-IN" dirty="0"/>
              <a:t>CPS85 Wage Data </a:t>
            </a:r>
            <a:br>
              <a:rPr lang="en-IN" dirty="0"/>
            </a:br>
            <a:endParaRPr lang="en-IN" dirty="0"/>
          </a:p>
        </p:txBody>
      </p:sp>
      <p:pic>
        <p:nvPicPr>
          <p:cNvPr id="6" name="Content Placeholder 5">
            <a:extLst>
              <a:ext uri="{FF2B5EF4-FFF2-40B4-BE49-F238E27FC236}">
                <a16:creationId xmlns:a16="http://schemas.microsoft.com/office/drawing/2014/main" id="{865AC261-22B5-AE09-41F2-70E9CBFB1BFD}"/>
              </a:ext>
            </a:extLst>
          </p:cNvPr>
          <p:cNvPicPr>
            <a:picLocks noGrp="1" noChangeAspect="1"/>
          </p:cNvPicPr>
          <p:nvPr>
            <p:ph idx="1"/>
          </p:nvPr>
        </p:nvPicPr>
        <p:blipFill>
          <a:blip r:embed="rId2"/>
          <a:stretch>
            <a:fillRect/>
          </a:stretch>
        </p:blipFill>
        <p:spPr>
          <a:xfrm>
            <a:off x="927099" y="1581714"/>
            <a:ext cx="4089400" cy="864960"/>
          </a:xfrm>
          <a:prstGeom prst="rect">
            <a:avLst/>
          </a:prstGeom>
        </p:spPr>
      </p:pic>
      <p:pic>
        <p:nvPicPr>
          <p:cNvPr id="9" name="Picture 8">
            <a:extLst>
              <a:ext uri="{FF2B5EF4-FFF2-40B4-BE49-F238E27FC236}">
                <a16:creationId xmlns:a16="http://schemas.microsoft.com/office/drawing/2014/main" id="{AA220F2E-AE9A-3189-9296-D4D415656D44}"/>
              </a:ext>
            </a:extLst>
          </p:cNvPr>
          <p:cNvPicPr>
            <a:picLocks noChangeAspect="1"/>
          </p:cNvPicPr>
          <p:nvPr/>
        </p:nvPicPr>
        <p:blipFill>
          <a:blip r:embed="rId3"/>
          <a:stretch>
            <a:fillRect/>
          </a:stretch>
        </p:blipFill>
        <p:spPr>
          <a:xfrm>
            <a:off x="6308837" y="1470345"/>
            <a:ext cx="3863196" cy="1089857"/>
          </a:xfrm>
          <a:prstGeom prst="rect">
            <a:avLst/>
          </a:prstGeom>
        </p:spPr>
      </p:pic>
      <p:pic>
        <p:nvPicPr>
          <p:cNvPr id="11" name="Picture 10">
            <a:extLst>
              <a:ext uri="{FF2B5EF4-FFF2-40B4-BE49-F238E27FC236}">
                <a16:creationId xmlns:a16="http://schemas.microsoft.com/office/drawing/2014/main" id="{36B47C18-6647-3F3C-423C-8C82108D2642}"/>
              </a:ext>
            </a:extLst>
          </p:cNvPr>
          <p:cNvPicPr>
            <a:picLocks noChangeAspect="1"/>
          </p:cNvPicPr>
          <p:nvPr/>
        </p:nvPicPr>
        <p:blipFill>
          <a:blip r:embed="rId4"/>
          <a:stretch>
            <a:fillRect/>
          </a:stretch>
        </p:blipFill>
        <p:spPr>
          <a:xfrm>
            <a:off x="927099" y="3252731"/>
            <a:ext cx="4165331" cy="962159"/>
          </a:xfrm>
          <a:prstGeom prst="rect">
            <a:avLst/>
          </a:prstGeom>
        </p:spPr>
      </p:pic>
      <p:pic>
        <p:nvPicPr>
          <p:cNvPr id="13" name="Picture 12">
            <a:extLst>
              <a:ext uri="{FF2B5EF4-FFF2-40B4-BE49-F238E27FC236}">
                <a16:creationId xmlns:a16="http://schemas.microsoft.com/office/drawing/2014/main" id="{B1FF9D62-D7AD-B3F4-415B-4C8D6D2D6F25}"/>
              </a:ext>
            </a:extLst>
          </p:cNvPr>
          <p:cNvPicPr>
            <a:picLocks noChangeAspect="1"/>
          </p:cNvPicPr>
          <p:nvPr/>
        </p:nvPicPr>
        <p:blipFill>
          <a:blip r:embed="rId5"/>
          <a:stretch>
            <a:fillRect/>
          </a:stretch>
        </p:blipFill>
        <p:spPr>
          <a:xfrm>
            <a:off x="7099572" y="3316396"/>
            <a:ext cx="2333951" cy="1095528"/>
          </a:xfrm>
          <a:prstGeom prst="rect">
            <a:avLst/>
          </a:prstGeom>
        </p:spPr>
      </p:pic>
      <p:pic>
        <p:nvPicPr>
          <p:cNvPr id="15" name="Picture 14">
            <a:extLst>
              <a:ext uri="{FF2B5EF4-FFF2-40B4-BE49-F238E27FC236}">
                <a16:creationId xmlns:a16="http://schemas.microsoft.com/office/drawing/2014/main" id="{B233554C-7762-6EC9-E51B-49B98EC0040E}"/>
              </a:ext>
            </a:extLst>
          </p:cNvPr>
          <p:cNvPicPr>
            <a:picLocks noChangeAspect="1"/>
          </p:cNvPicPr>
          <p:nvPr/>
        </p:nvPicPr>
        <p:blipFill>
          <a:blip r:embed="rId6"/>
          <a:stretch>
            <a:fillRect/>
          </a:stretch>
        </p:blipFill>
        <p:spPr>
          <a:xfrm>
            <a:off x="4102921" y="5085732"/>
            <a:ext cx="3410426" cy="1038370"/>
          </a:xfrm>
          <a:prstGeom prst="rect">
            <a:avLst/>
          </a:prstGeom>
        </p:spPr>
      </p:pic>
      <p:sp>
        <p:nvSpPr>
          <p:cNvPr id="16" name="Rectangle 15">
            <a:extLst>
              <a:ext uri="{FF2B5EF4-FFF2-40B4-BE49-F238E27FC236}">
                <a16:creationId xmlns:a16="http://schemas.microsoft.com/office/drawing/2014/main" id="{D932AD87-4470-7970-ED4B-B48FAC1B5DC6}"/>
              </a:ext>
            </a:extLst>
          </p:cNvPr>
          <p:cNvSpPr/>
          <p:nvPr/>
        </p:nvSpPr>
        <p:spPr>
          <a:xfrm>
            <a:off x="927099" y="2456142"/>
            <a:ext cx="4089400" cy="4971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Linear and Non-Linear(Experience)</a:t>
            </a:r>
          </a:p>
        </p:txBody>
      </p:sp>
      <p:sp>
        <p:nvSpPr>
          <p:cNvPr id="17" name="Rectangle 16">
            <a:extLst>
              <a:ext uri="{FF2B5EF4-FFF2-40B4-BE49-F238E27FC236}">
                <a16:creationId xmlns:a16="http://schemas.microsoft.com/office/drawing/2014/main" id="{A9D87073-D61B-30B2-06CD-411103783F90}"/>
              </a:ext>
            </a:extLst>
          </p:cNvPr>
          <p:cNvSpPr/>
          <p:nvPr/>
        </p:nvSpPr>
        <p:spPr>
          <a:xfrm>
            <a:off x="6392333" y="2593359"/>
            <a:ext cx="3606800" cy="4971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All Variables as Linear</a:t>
            </a:r>
          </a:p>
        </p:txBody>
      </p:sp>
      <p:sp>
        <p:nvSpPr>
          <p:cNvPr id="18" name="Rectangle 17">
            <a:extLst>
              <a:ext uri="{FF2B5EF4-FFF2-40B4-BE49-F238E27FC236}">
                <a16:creationId xmlns:a16="http://schemas.microsoft.com/office/drawing/2014/main" id="{418ECF19-CF99-F2E3-A290-5F016411B822}"/>
              </a:ext>
            </a:extLst>
          </p:cNvPr>
          <p:cNvSpPr/>
          <p:nvPr/>
        </p:nvSpPr>
        <p:spPr>
          <a:xfrm>
            <a:off x="1066800" y="4348259"/>
            <a:ext cx="3742267" cy="5116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Experience, Age and Education as Non-Linear</a:t>
            </a:r>
          </a:p>
        </p:txBody>
      </p:sp>
      <p:sp>
        <p:nvSpPr>
          <p:cNvPr id="19" name="Rectangle 18">
            <a:extLst>
              <a:ext uri="{FF2B5EF4-FFF2-40B4-BE49-F238E27FC236}">
                <a16:creationId xmlns:a16="http://schemas.microsoft.com/office/drawing/2014/main" id="{17088643-E5D9-11B1-A8B3-13A7DDD8844D}"/>
              </a:ext>
            </a:extLst>
          </p:cNvPr>
          <p:cNvSpPr/>
          <p:nvPr/>
        </p:nvSpPr>
        <p:spPr>
          <a:xfrm>
            <a:off x="7340600" y="4529667"/>
            <a:ext cx="2006600" cy="5116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Degree of Non-Linearity</a:t>
            </a:r>
          </a:p>
        </p:txBody>
      </p:sp>
      <p:sp>
        <p:nvSpPr>
          <p:cNvPr id="20" name="Rectangle 19">
            <a:extLst>
              <a:ext uri="{FF2B5EF4-FFF2-40B4-BE49-F238E27FC236}">
                <a16:creationId xmlns:a16="http://schemas.microsoft.com/office/drawing/2014/main" id="{75C5AAAF-E7D2-32D8-2608-958F9D470091}"/>
              </a:ext>
            </a:extLst>
          </p:cNvPr>
          <p:cNvSpPr/>
          <p:nvPr/>
        </p:nvSpPr>
        <p:spPr>
          <a:xfrm>
            <a:off x="4225786" y="6124102"/>
            <a:ext cx="3114814" cy="4798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Linear and Non-Linear(age)</a:t>
            </a:r>
          </a:p>
        </p:txBody>
      </p:sp>
    </p:spTree>
    <p:extLst>
      <p:ext uri="{BB962C8B-B14F-4D97-AF65-F5344CB8AC3E}">
        <p14:creationId xmlns:p14="http://schemas.microsoft.com/office/powerpoint/2010/main" val="1765983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C5A1-D3E4-6E97-2961-B942DDD23D62}"/>
              </a:ext>
            </a:extLst>
          </p:cNvPr>
          <p:cNvSpPr>
            <a:spLocks noGrp="1"/>
          </p:cNvSpPr>
          <p:nvPr>
            <p:ph type="title"/>
          </p:nvPr>
        </p:nvSpPr>
        <p:spPr/>
        <p:txBody>
          <a:bodyPr/>
          <a:lstStyle/>
          <a:p>
            <a:r>
              <a:rPr lang="en-IN" dirty="0"/>
              <a:t>Red Wine Dataset</a:t>
            </a:r>
          </a:p>
        </p:txBody>
      </p:sp>
      <p:pic>
        <p:nvPicPr>
          <p:cNvPr id="6" name="Content Placeholder 5">
            <a:extLst>
              <a:ext uri="{FF2B5EF4-FFF2-40B4-BE49-F238E27FC236}">
                <a16:creationId xmlns:a16="http://schemas.microsoft.com/office/drawing/2014/main" id="{23E7D581-6090-B808-A877-BC25F9890D8A}"/>
              </a:ext>
            </a:extLst>
          </p:cNvPr>
          <p:cNvPicPr>
            <a:picLocks noGrp="1" noChangeAspect="1"/>
          </p:cNvPicPr>
          <p:nvPr>
            <p:ph idx="1"/>
          </p:nvPr>
        </p:nvPicPr>
        <p:blipFill>
          <a:blip r:embed="rId2"/>
          <a:stretch>
            <a:fillRect/>
          </a:stretch>
        </p:blipFill>
        <p:spPr>
          <a:xfrm>
            <a:off x="1622176" y="2224066"/>
            <a:ext cx="3562847" cy="2619741"/>
          </a:xfrm>
          <a:prstGeom prst="rect">
            <a:avLst/>
          </a:prstGeom>
        </p:spPr>
      </p:pic>
      <p:sp>
        <p:nvSpPr>
          <p:cNvPr id="8" name="Rectangle 7">
            <a:extLst>
              <a:ext uri="{FF2B5EF4-FFF2-40B4-BE49-F238E27FC236}">
                <a16:creationId xmlns:a16="http://schemas.microsoft.com/office/drawing/2014/main" id="{4188DD29-A449-50CE-5514-264FC89D456F}"/>
              </a:ext>
            </a:extLst>
          </p:cNvPr>
          <p:cNvSpPr/>
          <p:nvPr/>
        </p:nvSpPr>
        <p:spPr>
          <a:xfrm>
            <a:off x="1710267" y="5037667"/>
            <a:ext cx="3462866" cy="5249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Degre of Non-Linearity</a:t>
            </a:r>
          </a:p>
        </p:txBody>
      </p:sp>
      <p:pic>
        <p:nvPicPr>
          <p:cNvPr id="10" name="Picture 9">
            <a:extLst>
              <a:ext uri="{FF2B5EF4-FFF2-40B4-BE49-F238E27FC236}">
                <a16:creationId xmlns:a16="http://schemas.microsoft.com/office/drawing/2014/main" id="{1B6B604D-D91B-C69E-43D4-7D3D54CA7FA1}"/>
              </a:ext>
            </a:extLst>
          </p:cNvPr>
          <p:cNvPicPr>
            <a:picLocks noChangeAspect="1"/>
          </p:cNvPicPr>
          <p:nvPr/>
        </p:nvPicPr>
        <p:blipFill>
          <a:blip r:embed="rId3"/>
          <a:stretch>
            <a:fillRect/>
          </a:stretch>
        </p:blipFill>
        <p:spPr>
          <a:xfrm>
            <a:off x="6384146" y="2400199"/>
            <a:ext cx="3572374" cy="1448002"/>
          </a:xfrm>
          <a:prstGeom prst="rect">
            <a:avLst/>
          </a:prstGeom>
        </p:spPr>
      </p:pic>
      <p:sp>
        <p:nvSpPr>
          <p:cNvPr id="11" name="Rectangle 10">
            <a:extLst>
              <a:ext uri="{FF2B5EF4-FFF2-40B4-BE49-F238E27FC236}">
                <a16:creationId xmlns:a16="http://schemas.microsoft.com/office/drawing/2014/main" id="{5E8B595C-CC3D-7A12-85A9-80F344BA1854}"/>
              </a:ext>
            </a:extLst>
          </p:cNvPr>
          <p:cNvSpPr/>
          <p:nvPr/>
        </p:nvSpPr>
        <p:spPr>
          <a:xfrm>
            <a:off x="6544733" y="4080933"/>
            <a:ext cx="3276600" cy="584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All Variables of Linear</a:t>
            </a:r>
          </a:p>
        </p:txBody>
      </p:sp>
    </p:spTree>
    <p:extLst>
      <p:ext uri="{BB962C8B-B14F-4D97-AF65-F5344CB8AC3E}">
        <p14:creationId xmlns:p14="http://schemas.microsoft.com/office/powerpoint/2010/main" val="200205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1EFA-9A0A-14F6-5E9D-2237D9459689}"/>
              </a:ext>
            </a:extLst>
          </p:cNvPr>
          <p:cNvSpPr>
            <a:spLocks noGrp="1"/>
          </p:cNvSpPr>
          <p:nvPr>
            <p:ph type="title"/>
          </p:nvPr>
        </p:nvSpPr>
        <p:spPr/>
        <p:txBody>
          <a:bodyPr/>
          <a:lstStyle/>
          <a:p>
            <a:r>
              <a:rPr lang="en-IN" dirty="0"/>
              <a:t>White Wine dataset</a:t>
            </a:r>
          </a:p>
        </p:txBody>
      </p:sp>
      <p:pic>
        <p:nvPicPr>
          <p:cNvPr id="6" name="Content Placeholder 5">
            <a:extLst>
              <a:ext uri="{FF2B5EF4-FFF2-40B4-BE49-F238E27FC236}">
                <a16:creationId xmlns:a16="http://schemas.microsoft.com/office/drawing/2014/main" id="{67B2F66A-CCA1-C7C5-3145-031D46E4B29A}"/>
              </a:ext>
            </a:extLst>
          </p:cNvPr>
          <p:cNvPicPr>
            <a:picLocks noGrp="1" noChangeAspect="1"/>
          </p:cNvPicPr>
          <p:nvPr>
            <p:ph idx="1"/>
          </p:nvPr>
        </p:nvPicPr>
        <p:blipFill>
          <a:blip r:embed="rId2"/>
          <a:stretch>
            <a:fillRect/>
          </a:stretch>
        </p:blipFill>
        <p:spPr>
          <a:xfrm>
            <a:off x="1869284" y="2252645"/>
            <a:ext cx="3762900" cy="2591162"/>
          </a:xfrm>
          <a:prstGeom prst="rect">
            <a:avLst/>
          </a:prstGeom>
        </p:spPr>
      </p:pic>
      <p:sp>
        <p:nvSpPr>
          <p:cNvPr id="8" name="Rectangle 7">
            <a:extLst>
              <a:ext uri="{FF2B5EF4-FFF2-40B4-BE49-F238E27FC236}">
                <a16:creationId xmlns:a16="http://schemas.microsoft.com/office/drawing/2014/main" id="{ADD9EE39-B0AD-F754-D53D-6321DBC37403}"/>
              </a:ext>
            </a:extLst>
          </p:cNvPr>
          <p:cNvSpPr/>
          <p:nvPr/>
        </p:nvSpPr>
        <p:spPr>
          <a:xfrm>
            <a:off x="1955800" y="5046133"/>
            <a:ext cx="3666067"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Degree of Non-Linearity</a:t>
            </a:r>
          </a:p>
        </p:txBody>
      </p:sp>
      <p:pic>
        <p:nvPicPr>
          <p:cNvPr id="10" name="Picture 9">
            <a:extLst>
              <a:ext uri="{FF2B5EF4-FFF2-40B4-BE49-F238E27FC236}">
                <a16:creationId xmlns:a16="http://schemas.microsoft.com/office/drawing/2014/main" id="{9C26D226-520D-D9DC-DDE2-C7B94D85EFDC}"/>
              </a:ext>
            </a:extLst>
          </p:cNvPr>
          <p:cNvPicPr>
            <a:picLocks noChangeAspect="1"/>
          </p:cNvPicPr>
          <p:nvPr/>
        </p:nvPicPr>
        <p:blipFill>
          <a:blip r:embed="rId3"/>
          <a:stretch>
            <a:fillRect/>
          </a:stretch>
        </p:blipFill>
        <p:spPr>
          <a:xfrm>
            <a:off x="7088517" y="2582280"/>
            <a:ext cx="2857899" cy="762106"/>
          </a:xfrm>
          <a:prstGeom prst="rect">
            <a:avLst/>
          </a:prstGeom>
        </p:spPr>
      </p:pic>
      <p:sp>
        <p:nvSpPr>
          <p:cNvPr id="11" name="Rectangle 10">
            <a:extLst>
              <a:ext uri="{FF2B5EF4-FFF2-40B4-BE49-F238E27FC236}">
                <a16:creationId xmlns:a16="http://schemas.microsoft.com/office/drawing/2014/main" id="{590797CB-B23E-0920-FAA9-E33F8A7FD020}"/>
              </a:ext>
            </a:extLst>
          </p:cNvPr>
          <p:cNvSpPr/>
          <p:nvPr/>
        </p:nvSpPr>
        <p:spPr>
          <a:xfrm>
            <a:off x="7264400" y="3666067"/>
            <a:ext cx="2751667" cy="3979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All Variables of Linear</a:t>
            </a:r>
          </a:p>
        </p:txBody>
      </p:sp>
    </p:spTree>
    <p:extLst>
      <p:ext uri="{BB962C8B-B14F-4D97-AF65-F5344CB8AC3E}">
        <p14:creationId xmlns:p14="http://schemas.microsoft.com/office/powerpoint/2010/main" val="1234392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5B19-9414-1C18-A143-5F8B402EA323}"/>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4AAFA66E-A1D5-D421-746A-4A9DD08A45CE}"/>
              </a:ext>
            </a:extLst>
          </p:cNvPr>
          <p:cNvSpPr>
            <a:spLocks noGrp="1"/>
          </p:cNvSpPr>
          <p:nvPr>
            <p:ph idx="1"/>
          </p:nvPr>
        </p:nvSpPr>
        <p:spPr/>
        <p:txBody>
          <a:bodyPr>
            <a:normAutofit/>
          </a:bodyPr>
          <a:lstStyle/>
          <a:p>
            <a:pPr marL="0" indent="0">
              <a:buNone/>
            </a:pPr>
            <a:r>
              <a:rPr lang="en-US" dirty="0"/>
              <a:t>A partially linear model with a restricted profile </a:t>
            </a:r>
            <a:r>
              <a:rPr lang="en-IN" dirty="0"/>
              <a:t>and used the least squares method to estimate the parameters to minimize the error. By constructing an augmented </a:t>
            </a:r>
            <a:r>
              <a:rPr lang="en-IN" dirty="0" err="1"/>
              <a:t>Lagrangian</a:t>
            </a:r>
            <a:r>
              <a:rPr lang="en-IN" dirty="0"/>
              <a:t> function under linear constraint conditions,</a:t>
            </a:r>
            <a:r>
              <a:rPr lang="en-US" dirty="0"/>
              <a:t> the constrained optimization problem was transformed into an unconstrained</a:t>
            </a:r>
            <a:r>
              <a:rPr lang="en-IN" dirty="0"/>
              <a:t> optimization problem. The model was solved with the ADMM. The ADMM algorithm has </a:t>
            </a:r>
            <a:r>
              <a:rPr lang="en-US" dirty="0"/>
              <a:t>the advantage that some large global problems can be solved by decomposing them into</a:t>
            </a:r>
            <a:r>
              <a:rPr lang="en-IN" dirty="0"/>
              <a:t> several smaller,</a:t>
            </a:r>
            <a:r>
              <a:rPr lang="en-US" dirty="0"/>
              <a:t> more easily solvable local problems and then coordinating the solutions</a:t>
            </a:r>
            <a:r>
              <a:rPr lang="en-IN" dirty="0"/>
              <a:t> </a:t>
            </a:r>
            <a:r>
              <a:rPr lang="en-US" dirty="0"/>
              <a:t>of the resulting subproblems to obtain the solution of the large global problem.</a:t>
            </a:r>
            <a:endParaRPr lang="en-IN" dirty="0"/>
          </a:p>
        </p:txBody>
      </p:sp>
    </p:spTree>
    <p:extLst>
      <p:ext uri="{BB962C8B-B14F-4D97-AF65-F5344CB8AC3E}">
        <p14:creationId xmlns:p14="http://schemas.microsoft.com/office/powerpoint/2010/main" val="2199088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56A5F-EF5E-1197-2262-97468E37EB8A}"/>
              </a:ext>
            </a:extLst>
          </p:cNvPr>
          <p:cNvSpPr>
            <a:spLocks noGrp="1"/>
          </p:cNvSpPr>
          <p:nvPr>
            <p:ph type="title"/>
          </p:nvPr>
        </p:nvSpPr>
        <p:spPr>
          <a:xfrm>
            <a:off x="1066800" y="2276660"/>
            <a:ext cx="10058400" cy="1371600"/>
          </a:xfrm>
        </p:spPr>
        <p:txBody>
          <a:bodyPr/>
          <a:lstStyle/>
          <a:p>
            <a:pPr algn="ctr"/>
            <a:r>
              <a:rPr lang="en-IN" dirty="0"/>
              <a:t>Thank You</a:t>
            </a:r>
          </a:p>
        </p:txBody>
      </p:sp>
    </p:spTree>
    <p:extLst>
      <p:ext uri="{BB962C8B-B14F-4D97-AF65-F5344CB8AC3E}">
        <p14:creationId xmlns:p14="http://schemas.microsoft.com/office/powerpoint/2010/main" val="34856087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462</TotalTime>
  <Words>1273</Words>
  <Application>Microsoft Office PowerPoint</Application>
  <PresentationFormat>Widescreen</PresentationFormat>
  <Paragraphs>132</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Bahnschrift Light SemiCondensed</vt:lpstr>
      <vt:lpstr>Cambria Math</vt:lpstr>
      <vt:lpstr>Century Gothic</vt:lpstr>
      <vt:lpstr>Garamond</vt:lpstr>
      <vt:lpstr>Wingdings</vt:lpstr>
      <vt:lpstr>Savon</vt:lpstr>
      <vt:lpstr>Application of the ADMM Algorithm for a High-Dimensional  Partially Linear Model</vt:lpstr>
      <vt:lpstr>Introduction</vt:lpstr>
      <vt:lpstr>Partially linear models</vt:lpstr>
      <vt:lpstr>Problem Statement</vt:lpstr>
      <vt:lpstr>PowerPoint Presentation</vt:lpstr>
      <vt:lpstr>Objectives</vt:lpstr>
      <vt:lpstr>PowerPoint Presentation</vt:lpstr>
      <vt:lpstr>Dataset Description</vt:lpstr>
      <vt:lpstr>PowerPoint Presentation</vt:lpstr>
      <vt:lpstr>PowerPoint Presentation</vt:lpstr>
      <vt:lpstr>Methodology</vt:lpstr>
      <vt:lpstr>B-Spline Function</vt:lpstr>
      <vt:lpstr>Model and Optimization Equations </vt:lpstr>
      <vt:lpstr>PowerPoint Presentation</vt:lpstr>
      <vt:lpstr>ADMM Update Equations</vt:lpstr>
      <vt:lpstr>PowerPoint Presentation</vt:lpstr>
      <vt:lpstr>Workflow</vt:lpstr>
      <vt:lpstr>PowerPoint Presentation</vt:lpstr>
      <vt:lpstr>Results</vt:lpstr>
      <vt:lpstr>CPS85 Wage Data  </vt:lpstr>
      <vt:lpstr>Red Wine Dataset</vt:lpstr>
      <vt:lpstr>White Wine dataset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Rithan S</dc:creator>
  <cp:lastModifiedBy>MAALIKA P</cp:lastModifiedBy>
  <cp:revision>8</cp:revision>
  <dcterms:created xsi:type="dcterms:W3CDTF">2025-08-22T14:49:12Z</dcterms:created>
  <dcterms:modified xsi:type="dcterms:W3CDTF">2025-10-10T16:21:18Z</dcterms:modified>
</cp:coreProperties>
</file>